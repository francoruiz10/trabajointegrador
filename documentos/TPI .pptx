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Raleway Bold" charset="1" panose="00000000000000000000"/>
      <p:regular r:id="rId23"/>
    </p:embeddedFont>
    <p:embeddedFont>
      <p:font typeface="Garet" charset="1" panose="00000000000000000000"/>
      <p:regular r:id="rId24"/>
    </p:embeddedFont>
    <p:embeddedFont>
      <p:font typeface="Raleway" charset="1" panose="00000000000000000000"/>
      <p:regular r:id="rId25"/>
    </p:embeddedFont>
    <p:embeddedFont>
      <p:font typeface="Open Sans Bold" charset="1" panose="020B0806030504020204"/>
      <p:regular r:id="rId26"/>
    </p:embeddedFont>
    <p:embeddedFont>
      <p:font typeface="Garet Bold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1814" y="245406"/>
            <a:ext cx="17627491" cy="9796188"/>
          </a:xfrm>
          <a:custGeom>
            <a:avLst/>
            <a:gdLst/>
            <a:ahLst/>
            <a:cxnLst/>
            <a:rect r="r" b="b" t="t" l="l"/>
            <a:pathLst>
              <a:path h="9796188" w="17627491">
                <a:moveTo>
                  <a:pt x="0" y="0"/>
                </a:moveTo>
                <a:lnTo>
                  <a:pt x="17627491" y="0"/>
                </a:lnTo>
                <a:lnTo>
                  <a:pt x="17627491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1676" y="465290"/>
            <a:ext cx="17172776" cy="9322030"/>
          </a:xfrm>
          <a:custGeom>
            <a:avLst/>
            <a:gdLst/>
            <a:ahLst/>
            <a:cxnLst/>
            <a:rect r="r" b="b" t="t" l="l"/>
            <a:pathLst>
              <a:path h="9322030" w="17172776">
                <a:moveTo>
                  <a:pt x="0" y="0"/>
                </a:moveTo>
                <a:lnTo>
                  <a:pt x="17172775" y="0"/>
                </a:lnTo>
                <a:lnTo>
                  <a:pt x="17172775" y="9322030"/>
                </a:lnTo>
                <a:lnTo>
                  <a:pt x="0" y="9322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8675" y="762425"/>
            <a:ext cx="16645382" cy="8751900"/>
          </a:xfrm>
          <a:custGeom>
            <a:avLst/>
            <a:gdLst/>
            <a:ahLst/>
            <a:cxnLst/>
            <a:rect r="r" b="b" t="t" l="l"/>
            <a:pathLst>
              <a:path h="8751900" w="16645382">
                <a:moveTo>
                  <a:pt x="0" y="0"/>
                </a:moveTo>
                <a:lnTo>
                  <a:pt x="16645382" y="0"/>
                </a:lnTo>
                <a:lnTo>
                  <a:pt x="16645382" y="8751901"/>
                </a:lnTo>
                <a:lnTo>
                  <a:pt x="0" y="87519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501437" y="6623726"/>
            <a:ext cx="3329978" cy="3329977"/>
          </a:xfrm>
          <a:custGeom>
            <a:avLst/>
            <a:gdLst/>
            <a:ahLst/>
            <a:cxnLst/>
            <a:rect r="r" b="b" t="t" l="l"/>
            <a:pathLst>
              <a:path h="3329977" w="3329978">
                <a:moveTo>
                  <a:pt x="0" y="0"/>
                </a:moveTo>
                <a:lnTo>
                  <a:pt x="3329978" y="0"/>
                </a:lnTo>
                <a:lnTo>
                  <a:pt x="3329978" y="3329977"/>
                </a:lnTo>
                <a:lnTo>
                  <a:pt x="0" y="3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9705" y="333297"/>
            <a:ext cx="3329978" cy="3329977"/>
          </a:xfrm>
          <a:custGeom>
            <a:avLst/>
            <a:gdLst/>
            <a:ahLst/>
            <a:cxnLst/>
            <a:rect r="r" b="b" t="t" l="l"/>
            <a:pathLst>
              <a:path h="3329977" w="3329978">
                <a:moveTo>
                  <a:pt x="0" y="0"/>
                </a:moveTo>
                <a:lnTo>
                  <a:pt x="3329978" y="0"/>
                </a:lnTo>
                <a:lnTo>
                  <a:pt x="3329978" y="3329977"/>
                </a:lnTo>
                <a:lnTo>
                  <a:pt x="0" y="3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84300" y="4448404"/>
            <a:ext cx="15519400" cy="215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8"/>
              </a:lnSpc>
            </a:pPr>
            <a:r>
              <a:rPr lang="en-US" b="true" sz="6212" spc="309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PROYECTO CORREO ELECTRONICO PARA EMPRESA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67976" y="6709019"/>
            <a:ext cx="5675166" cy="146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Grupo:  </a:t>
            </a:r>
          </a:p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Ruiz Franco Javier</a:t>
            </a:r>
          </a:p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Vargas Kevin Daniel</a:t>
            </a:r>
          </a:p>
          <a:p>
            <a:pPr algn="ctr">
              <a:lnSpc>
                <a:spcPts val="278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312014" y="2910131"/>
            <a:ext cx="13663973" cy="1660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6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TPI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525569" y="8729565"/>
            <a:ext cx="5675166" cy="44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5"/>
              </a:lnSpc>
            </a:pPr>
            <a:r>
              <a:rPr lang="en-US" sz="23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Comisión 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210" y="245406"/>
            <a:ext cx="17648095" cy="9796188"/>
          </a:xfrm>
          <a:custGeom>
            <a:avLst/>
            <a:gdLst/>
            <a:ahLst/>
            <a:cxnLst/>
            <a:rect r="r" b="b" t="t" l="l"/>
            <a:pathLst>
              <a:path h="9796188" w="17648095">
                <a:moveTo>
                  <a:pt x="0" y="0"/>
                </a:moveTo>
                <a:lnTo>
                  <a:pt x="17648095" y="0"/>
                </a:lnTo>
                <a:lnTo>
                  <a:pt x="17648095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6400" y="2391148"/>
            <a:ext cx="8701894" cy="72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1"/>
              </a:lnSpc>
            </a:pPr>
            <a:r>
              <a:rPr lang="en-US" sz="29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Sistema de gestion de correo electronico: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13204" y="1366790"/>
            <a:ext cx="13019115" cy="57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b="true" sz="4067" spc="1309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QUÉ HACE EL PROYECTO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76400" y="3685733"/>
            <a:ext cx="14472232" cy="4480957"/>
            <a:chOff x="0" y="0"/>
            <a:chExt cx="19296309" cy="5974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96309" cy="5974609"/>
            </a:xfrm>
            <a:custGeom>
              <a:avLst/>
              <a:gdLst/>
              <a:ahLst/>
              <a:cxnLst/>
              <a:rect r="r" b="b" t="t" l="l"/>
              <a:pathLst>
                <a:path h="5974609" w="19296309">
                  <a:moveTo>
                    <a:pt x="0" y="0"/>
                  </a:moveTo>
                  <a:lnTo>
                    <a:pt x="19296309" y="0"/>
                  </a:lnTo>
                  <a:lnTo>
                    <a:pt x="19296309" y="5974609"/>
                  </a:lnTo>
                  <a:lnTo>
                    <a:pt x="0" y="59746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9296309" cy="5965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Permite crear usuarios con email y contraseña.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Valida la contraseña con reglas de longitud y número de intentos. 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Envía y recibe mensajes entre usuarios o carpetas.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Clasifica automáticamente los mensajes según filtros definidos.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Detecta y almacena mensajes urgentes en una cola especial.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Organiza mensajes en carpetas y subcarpetas jerárquicas.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Muestra la estructura completa de carpetas con recursividad.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Permite mover mensajes entre carpetas.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Realiza búsquedas por contenido o remitente.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Permite crear servidores.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Permite realizar una conexión entre servidores mediante grafos.</a:t>
              </a:r>
            </a:p>
            <a:p>
              <a:pPr algn="l" marL="289560" indent="-1447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Usa herencia, polimorfismo y decoradores para mantener el código modular y extensible.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1931" y="245406"/>
            <a:ext cx="17648095" cy="9796188"/>
          </a:xfrm>
          <a:custGeom>
            <a:avLst/>
            <a:gdLst/>
            <a:ahLst/>
            <a:cxnLst/>
            <a:rect r="r" b="b" t="t" l="l"/>
            <a:pathLst>
              <a:path h="9796188" w="17648095">
                <a:moveTo>
                  <a:pt x="0" y="0"/>
                </a:moveTo>
                <a:lnTo>
                  <a:pt x="17648095" y="0"/>
                </a:lnTo>
                <a:lnTo>
                  <a:pt x="17648095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04162" y="1342150"/>
            <a:ext cx="13019115" cy="59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b="true" sz="4067" spc="1309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 CLASES Y ESTRUCTURA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4080" y="2925775"/>
            <a:ext cx="9397436" cy="237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71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Clase abstracta que define métodos que las clases ‘Usuario’ y ‘Carpeta’ implementan para enviar, recibir y listar mensajes dentro del sistema de correo.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4080" y="6586939"/>
            <a:ext cx="8761113" cy="2337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Clase que representa al usuario del sistema de correo, almacenando su email, contraseña, bandeja de entrada, filtros personalizados y mensajes urgentes.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579206" y="2608957"/>
            <a:ext cx="4419600" cy="3512471"/>
            <a:chOff x="0" y="0"/>
            <a:chExt cx="5892800" cy="46832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92800" cy="4683288"/>
            </a:xfrm>
            <a:custGeom>
              <a:avLst/>
              <a:gdLst/>
              <a:ahLst/>
              <a:cxnLst/>
              <a:rect r="r" b="b" t="t" l="l"/>
              <a:pathLst>
                <a:path h="4683288" w="5892800">
                  <a:moveTo>
                    <a:pt x="0" y="0"/>
                  </a:moveTo>
                  <a:lnTo>
                    <a:pt x="5892800" y="0"/>
                  </a:lnTo>
                  <a:lnTo>
                    <a:pt x="5892800" y="4683288"/>
                  </a:lnTo>
                  <a:lnTo>
                    <a:pt x="0" y="4683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0" r="0" b="-65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41868" y="6541269"/>
            <a:ext cx="7317432" cy="2289627"/>
            <a:chOff x="0" y="0"/>
            <a:chExt cx="9756575" cy="30528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6531" cy="3052826"/>
            </a:xfrm>
            <a:custGeom>
              <a:avLst/>
              <a:gdLst/>
              <a:ahLst/>
              <a:cxnLst/>
              <a:rect r="r" b="b" t="t" l="l"/>
              <a:pathLst>
                <a:path h="3052826" w="9756531">
                  <a:moveTo>
                    <a:pt x="0" y="0"/>
                  </a:moveTo>
                  <a:lnTo>
                    <a:pt x="9756531" y="0"/>
                  </a:lnTo>
                  <a:lnTo>
                    <a:pt x="9756531" y="3052826"/>
                  </a:lnTo>
                  <a:lnTo>
                    <a:pt x="0" y="3052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4" t="0" r="-595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2160" y="245406"/>
            <a:ext cx="17648095" cy="9796188"/>
          </a:xfrm>
          <a:custGeom>
            <a:avLst/>
            <a:gdLst/>
            <a:ahLst/>
            <a:cxnLst/>
            <a:rect r="r" b="b" t="t" l="l"/>
            <a:pathLst>
              <a:path h="9796188" w="17648095">
                <a:moveTo>
                  <a:pt x="0" y="0"/>
                </a:moveTo>
                <a:lnTo>
                  <a:pt x="17648095" y="0"/>
                </a:lnTo>
                <a:lnTo>
                  <a:pt x="17648095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13204" y="1366790"/>
            <a:ext cx="13019115" cy="57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b="true" sz="4067" spc="1309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CLASE USUARIO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24000" y="6173029"/>
            <a:ext cx="6772058" cy="278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Función que valida la contraseña del usuario, permitiendo hasta 3 intentos y asegurando que tenga entre 6 y 12 caracteres. Mejora la seguridad del acceso al sistema.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307939" y="1874792"/>
            <a:ext cx="7623006" cy="3436309"/>
            <a:chOff x="0" y="0"/>
            <a:chExt cx="10164008" cy="45817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4064" cy="4581794"/>
            </a:xfrm>
            <a:custGeom>
              <a:avLst/>
              <a:gdLst/>
              <a:ahLst/>
              <a:cxnLst/>
              <a:rect r="r" b="b" t="t" l="l"/>
              <a:pathLst>
                <a:path h="4581794" w="10164064">
                  <a:moveTo>
                    <a:pt x="0" y="0"/>
                  </a:moveTo>
                  <a:lnTo>
                    <a:pt x="10164064" y="0"/>
                  </a:lnTo>
                  <a:lnTo>
                    <a:pt x="10164064" y="4581794"/>
                  </a:lnTo>
                  <a:lnTo>
                    <a:pt x="0" y="4581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1" t="-1" r="-20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2438141"/>
            <a:ext cx="8191500" cy="2246769"/>
            <a:chOff x="0" y="0"/>
            <a:chExt cx="10922000" cy="29956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22000" cy="2995692"/>
            </a:xfrm>
            <a:custGeom>
              <a:avLst/>
              <a:gdLst/>
              <a:ahLst/>
              <a:cxnLst/>
              <a:rect r="r" b="b" t="t" l="l"/>
              <a:pathLst>
                <a:path h="2995692" w="10922000">
                  <a:moveTo>
                    <a:pt x="0" y="0"/>
                  </a:moveTo>
                  <a:lnTo>
                    <a:pt x="10922000" y="0"/>
                  </a:lnTo>
                  <a:lnTo>
                    <a:pt x="10922000" y="2995692"/>
                  </a:lnTo>
                  <a:lnTo>
                    <a:pt x="0" y="29956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0922000" cy="300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Decorador que muestra un mensaje de bienvenida antes de ejecutar el método mail, que retorna el email del usuario. Mejora la experiencia del sistema sin modificar la lógica principal. 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06936" y="6268282"/>
            <a:ext cx="9024235" cy="2990018"/>
            <a:chOff x="0" y="0"/>
            <a:chExt cx="13319061" cy="44130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19066" cy="4412996"/>
            </a:xfrm>
            <a:custGeom>
              <a:avLst/>
              <a:gdLst/>
              <a:ahLst/>
              <a:cxnLst/>
              <a:rect r="r" b="b" t="t" l="l"/>
              <a:pathLst>
                <a:path h="4412996" w="13319066">
                  <a:moveTo>
                    <a:pt x="0" y="0"/>
                  </a:moveTo>
                  <a:lnTo>
                    <a:pt x="13319066" y="0"/>
                  </a:lnTo>
                  <a:lnTo>
                    <a:pt x="13319066" y="4412996"/>
                  </a:lnTo>
                  <a:lnTo>
                    <a:pt x="0" y="4412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68" t="0" r="-568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5196" y="245406"/>
            <a:ext cx="17648095" cy="9796188"/>
          </a:xfrm>
          <a:custGeom>
            <a:avLst/>
            <a:gdLst/>
            <a:ahLst/>
            <a:cxnLst/>
            <a:rect r="r" b="b" t="t" l="l"/>
            <a:pathLst>
              <a:path h="9796188" w="17648095">
                <a:moveTo>
                  <a:pt x="0" y="0"/>
                </a:moveTo>
                <a:lnTo>
                  <a:pt x="17648095" y="0"/>
                </a:lnTo>
                <a:lnTo>
                  <a:pt x="17648095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24342" y="2017230"/>
            <a:ext cx="8191500" cy="1938992"/>
            <a:chOff x="0" y="0"/>
            <a:chExt cx="10922000" cy="25853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22000" cy="2585323"/>
            </a:xfrm>
            <a:custGeom>
              <a:avLst/>
              <a:gdLst/>
              <a:ahLst/>
              <a:cxnLst/>
              <a:rect r="r" b="b" t="t" l="l"/>
              <a:pathLst>
                <a:path h="2585323" w="10922000">
                  <a:moveTo>
                    <a:pt x="0" y="0"/>
                  </a:moveTo>
                  <a:lnTo>
                    <a:pt x="10922000" y="0"/>
                  </a:lnTo>
                  <a:lnTo>
                    <a:pt x="10922000" y="2585323"/>
                  </a:lnTo>
                  <a:lnTo>
                    <a:pt x="0" y="25853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0922000" cy="2575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Función que permite agregar filtros por palabra clave y clasificar automáticamente los mensajes según su contenido. También detecta si un mensaje es urgente y lo organiza en la bandeja correspondiente.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344446" y="1307769"/>
            <a:ext cx="5402463" cy="5194181"/>
          </a:xfrm>
          <a:custGeom>
            <a:avLst/>
            <a:gdLst/>
            <a:ahLst/>
            <a:cxnLst/>
            <a:rect r="r" b="b" t="t" l="l"/>
            <a:pathLst>
              <a:path h="5194181" w="5402463">
                <a:moveTo>
                  <a:pt x="0" y="0"/>
                </a:moveTo>
                <a:lnTo>
                  <a:pt x="5402463" y="0"/>
                </a:lnTo>
                <a:lnTo>
                  <a:pt x="5402463" y="5194181"/>
                </a:lnTo>
                <a:lnTo>
                  <a:pt x="0" y="51941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761" b="-317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99400" y="4386691"/>
            <a:ext cx="5581457" cy="5349425"/>
          </a:xfrm>
          <a:custGeom>
            <a:avLst/>
            <a:gdLst/>
            <a:ahLst/>
            <a:cxnLst/>
            <a:rect r="r" b="b" t="t" l="l"/>
            <a:pathLst>
              <a:path h="5349425" w="5581457">
                <a:moveTo>
                  <a:pt x="0" y="0"/>
                </a:moveTo>
                <a:lnTo>
                  <a:pt x="5581457" y="0"/>
                </a:lnTo>
                <a:lnTo>
                  <a:pt x="5581457" y="5349425"/>
                </a:lnTo>
                <a:lnTo>
                  <a:pt x="0" y="5349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85" t="0" r="-11162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13204" y="733842"/>
            <a:ext cx="13019115" cy="57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b="true" sz="4067" spc="1309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CLASE USUARIO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73061" y="6874695"/>
            <a:ext cx="6370939" cy="286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sz="24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Funciones que permiten recibir un mensaje y guardarlo en la bandeja de entrada, y listar todos los mensajes almacenados. Son esenciales para gestionar la comunicación del usuario dentro del sistema.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0254" y="245406"/>
            <a:ext cx="17627491" cy="9796188"/>
          </a:xfrm>
          <a:custGeom>
            <a:avLst/>
            <a:gdLst/>
            <a:ahLst/>
            <a:cxnLst/>
            <a:rect r="r" b="b" t="t" l="l"/>
            <a:pathLst>
              <a:path h="9796188" w="17627491">
                <a:moveTo>
                  <a:pt x="0" y="0"/>
                </a:moveTo>
                <a:lnTo>
                  <a:pt x="17627491" y="0"/>
                </a:lnTo>
                <a:lnTo>
                  <a:pt x="17627491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0116" y="465290"/>
            <a:ext cx="17172776" cy="9322030"/>
          </a:xfrm>
          <a:custGeom>
            <a:avLst/>
            <a:gdLst/>
            <a:ahLst/>
            <a:cxnLst/>
            <a:rect r="r" b="b" t="t" l="l"/>
            <a:pathLst>
              <a:path h="9322030" w="17172776">
                <a:moveTo>
                  <a:pt x="0" y="0"/>
                </a:moveTo>
                <a:lnTo>
                  <a:pt x="17172775" y="0"/>
                </a:lnTo>
                <a:lnTo>
                  <a:pt x="17172775" y="9322030"/>
                </a:lnTo>
                <a:lnTo>
                  <a:pt x="0" y="9322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7115" y="762425"/>
            <a:ext cx="16645382" cy="8751900"/>
          </a:xfrm>
          <a:custGeom>
            <a:avLst/>
            <a:gdLst/>
            <a:ahLst/>
            <a:cxnLst/>
            <a:rect r="r" b="b" t="t" l="l"/>
            <a:pathLst>
              <a:path h="8751900" w="16645382">
                <a:moveTo>
                  <a:pt x="0" y="0"/>
                </a:moveTo>
                <a:lnTo>
                  <a:pt x="16645382" y="0"/>
                </a:lnTo>
                <a:lnTo>
                  <a:pt x="16645382" y="8751901"/>
                </a:lnTo>
                <a:lnTo>
                  <a:pt x="0" y="87519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539877" y="6623726"/>
            <a:ext cx="3329978" cy="3329977"/>
          </a:xfrm>
          <a:custGeom>
            <a:avLst/>
            <a:gdLst/>
            <a:ahLst/>
            <a:cxnLst/>
            <a:rect r="r" b="b" t="t" l="l"/>
            <a:pathLst>
              <a:path h="3329977" w="3329978">
                <a:moveTo>
                  <a:pt x="0" y="0"/>
                </a:moveTo>
                <a:lnTo>
                  <a:pt x="3329978" y="0"/>
                </a:lnTo>
                <a:lnTo>
                  <a:pt x="3329978" y="3329977"/>
                </a:lnTo>
                <a:lnTo>
                  <a:pt x="0" y="3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39466" y="2795883"/>
            <a:ext cx="7565871" cy="6018584"/>
          </a:xfrm>
          <a:custGeom>
            <a:avLst/>
            <a:gdLst/>
            <a:ahLst/>
            <a:cxnLst/>
            <a:rect r="r" b="b" t="t" l="l"/>
            <a:pathLst>
              <a:path h="6018584" w="7565871">
                <a:moveTo>
                  <a:pt x="0" y="0"/>
                </a:moveTo>
                <a:lnTo>
                  <a:pt x="7565872" y="0"/>
                </a:lnTo>
                <a:lnTo>
                  <a:pt x="7565872" y="6018584"/>
                </a:lnTo>
                <a:lnTo>
                  <a:pt x="0" y="60185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13204" y="1366790"/>
            <a:ext cx="13019115" cy="57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b="true" sz="4067" spc="1309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CLASE USUARIO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155996"/>
            <a:ext cx="7594061" cy="290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Funciones que permiten visualizar los mensajes urgentes y los mensajes clasificados por filtros, mostrando su contenido según la categoría. Facilitan la organización y revisión rápida del correo.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210" y="157724"/>
            <a:ext cx="17648095" cy="9796188"/>
          </a:xfrm>
          <a:custGeom>
            <a:avLst/>
            <a:gdLst/>
            <a:ahLst/>
            <a:cxnLst/>
            <a:rect r="r" b="b" t="t" l="l"/>
            <a:pathLst>
              <a:path h="9796188" w="17648095">
                <a:moveTo>
                  <a:pt x="0" y="0"/>
                </a:moveTo>
                <a:lnTo>
                  <a:pt x="17648095" y="0"/>
                </a:lnTo>
                <a:lnTo>
                  <a:pt x="17648095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13204" y="1366790"/>
            <a:ext cx="13019115" cy="57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8"/>
              </a:lnSpc>
            </a:pPr>
            <a:r>
              <a:rPr lang="en-US" b="true" sz="4067" spc="1309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CLASE CARPETA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6326" y="6173029"/>
            <a:ext cx="7620000" cy="334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Funciones que permiten agregar subcarpetas y mensajes a una carpeta, y recibir mensajes para almacenarlos. Ayudan a construir una estructura jerárquica y organizada dentro del sistema de correo.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69702" y="2696396"/>
            <a:ext cx="8257230" cy="2189262"/>
            <a:chOff x="0" y="0"/>
            <a:chExt cx="11009640" cy="29190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09640" cy="2919017"/>
            </a:xfrm>
            <a:custGeom>
              <a:avLst/>
              <a:gdLst/>
              <a:ahLst/>
              <a:cxnLst/>
              <a:rect r="r" b="b" t="t" l="l"/>
              <a:pathLst>
                <a:path h="2919017" w="11009640">
                  <a:moveTo>
                    <a:pt x="0" y="0"/>
                  </a:moveTo>
                  <a:lnTo>
                    <a:pt x="11009640" y="0"/>
                  </a:lnTo>
                  <a:lnTo>
                    <a:pt x="11009640" y="2919017"/>
                  </a:lnTo>
                  <a:lnTo>
                    <a:pt x="0" y="29190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1009640" cy="2928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Clase que representa una carpeta con nombre, mensajes y subcarpetas. Permite organizar el correo en una estructura jerárquica dentro del sistema.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63200" y="2705099"/>
            <a:ext cx="5867400" cy="2613503"/>
            <a:chOff x="0" y="0"/>
            <a:chExt cx="7823200" cy="34846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23200" cy="3484626"/>
            </a:xfrm>
            <a:custGeom>
              <a:avLst/>
              <a:gdLst/>
              <a:ahLst/>
              <a:cxnLst/>
              <a:rect r="r" b="b" t="t" l="l"/>
              <a:pathLst>
                <a:path h="3484626" w="7823200">
                  <a:moveTo>
                    <a:pt x="0" y="0"/>
                  </a:moveTo>
                  <a:lnTo>
                    <a:pt x="7823200" y="0"/>
                  </a:lnTo>
                  <a:lnTo>
                    <a:pt x="7823200" y="3484626"/>
                  </a:lnTo>
                  <a:lnTo>
                    <a:pt x="0" y="3484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54363" y="6395108"/>
            <a:ext cx="8115925" cy="2588908"/>
            <a:chOff x="0" y="0"/>
            <a:chExt cx="10821233" cy="34518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21289" cy="3451860"/>
            </a:xfrm>
            <a:custGeom>
              <a:avLst/>
              <a:gdLst/>
              <a:ahLst/>
              <a:cxnLst/>
              <a:rect r="r" b="b" t="t" l="l"/>
              <a:pathLst>
                <a:path h="3451860" w="10821289">
                  <a:moveTo>
                    <a:pt x="0" y="0"/>
                  </a:moveTo>
                  <a:lnTo>
                    <a:pt x="10821289" y="0"/>
                  </a:lnTo>
                  <a:lnTo>
                    <a:pt x="10821289" y="3451860"/>
                  </a:lnTo>
                  <a:lnTo>
                    <a:pt x="0" y="3451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449" y="178809"/>
            <a:ext cx="17648095" cy="9796188"/>
          </a:xfrm>
          <a:custGeom>
            <a:avLst/>
            <a:gdLst/>
            <a:ahLst/>
            <a:cxnLst/>
            <a:rect r="r" b="b" t="t" l="l"/>
            <a:pathLst>
              <a:path h="9796188" w="17648095">
                <a:moveTo>
                  <a:pt x="0" y="0"/>
                </a:moveTo>
                <a:lnTo>
                  <a:pt x="17648095" y="0"/>
                </a:lnTo>
                <a:lnTo>
                  <a:pt x="17648095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13204" y="1366790"/>
            <a:ext cx="13019115" cy="57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b="true" sz="4067" spc="1309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CLASE CARPETA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1" y="6173029"/>
            <a:ext cx="7620000" cy="334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Funciones que permiten mostrar la estructura completa de carpetas y subcarpetas usando recursividad, y mover mensajes entre carpetas. Facilitan la organización visual y dinámica del sistema de correo.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25000" y="2805611"/>
            <a:ext cx="7598097" cy="2255189"/>
            <a:chOff x="0" y="0"/>
            <a:chExt cx="10130796" cy="300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30796" cy="3006919"/>
            </a:xfrm>
            <a:custGeom>
              <a:avLst/>
              <a:gdLst/>
              <a:ahLst/>
              <a:cxnLst/>
              <a:rect r="r" b="b" t="t" l="l"/>
              <a:pathLst>
                <a:path h="3006919" w="10130796">
                  <a:moveTo>
                    <a:pt x="0" y="0"/>
                  </a:moveTo>
                  <a:lnTo>
                    <a:pt x="10130796" y="0"/>
                  </a:lnTo>
                  <a:lnTo>
                    <a:pt x="10130796" y="3006919"/>
                  </a:lnTo>
                  <a:lnTo>
                    <a:pt x="0" y="30069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130796" cy="3016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Funciones que permiten enviar un mensaje a su carpeta destino y listar todos los mensajes almacenados en la carpeta actual. Facilitan la comunicación y organización dentro del sistema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63443" y="2800555"/>
            <a:ext cx="7623358" cy="1835636"/>
            <a:chOff x="0" y="0"/>
            <a:chExt cx="10164477" cy="24475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4445" cy="2447544"/>
            </a:xfrm>
            <a:custGeom>
              <a:avLst/>
              <a:gdLst/>
              <a:ahLst/>
              <a:cxnLst/>
              <a:rect r="r" b="b" t="t" l="l"/>
              <a:pathLst>
                <a:path h="2447544" w="10164445">
                  <a:moveTo>
                    <a:pt x="0" y="0"/>
                  </a:moveTo>
                  <a:lnTo>
                    <a:pt x="10164445" y="0"/>
                  </a:lnTo>
                  <a:lnTo>
                    <a:pt x="10164445" y="2447544"/>
                  </a:lnTo>
                  <a:lnTo>
                    <a:pt x="0" y="2447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55" t="0" r="-9955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15078" y="6373810"/>
            <a:ext cx="7501322" cy="2951131"/>
            <a:chOff x="0" y="0"/>
            <a:chExt cx="10001763" cy="39348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01758" cy="3934841"/>
            </a:xfrm>
            <a:custGeom>
              <a:avLst/>
              <a:gdLst/>
              <a:ahLst/>
              <a:cxnLst/>
              <a:rect r="r" b="b" t="t" l="l"/>
              <a:pathLst>
                <a:path h="3934841" w="10001758">
                  <a:moveTo>
                    <a:pt x="0" y="0"/>
                  </a:moveTo>
                  <a:lnTo>
                    <a:pt x="10001758" y="0"/>
                  </a:lnTo>
                  <a:lnTo>
                    <a:pt x="10001758" y="3934841"/>
                  </a:lnTo>
                  <a:lnTo>
                    <a:pt x="0" y="3934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14" t="0" r="-2714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0254" y="245406"/>
            <a:ext cx="17627491" cy="9796188"/>
          </a:xfrm>
          <a:custGeom>
            <a:avLst/>
            <a:gdLst/>
            <a:ahLst/>
            <a:cxnLst/>
            <a:rect r="r" b="b" t="t" l="l"/>
            <a:pathLst>
              <a:path h="9796188" w="17627491">
                <a:moveTo>
                  <a:pt x="0" y="0"/>
                </a:moveTo>
                <a:lnTo>
                  <a:pt x="17627491" y="0"/>
                </a:lnTo>
                <a:lnTo>
                  <a:pt x="17627491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0116" y="465290"/>
            <a:ext cx="17172776" cy="9322030"/>
          </a:xfrm>
          <a:custGeom>
            <a:avLst/>
            <a:gdLst/>
            <a:ahLst/>
            <a:cxnLst/>
            <a:rect r="r" b="b" t="t" l="l"/>
            <a:pathLst>
              <a:path h="9322030" w="17172776">
                <a:moveTo>
                  <a:pt x="0" y="0"/>
                </a:moveTo>
                <a:lnTo>
                  <a:pt x="17172775" y="0"/>
                </a:lnTo>
                <a:lnTo>
                  <a:pt x="17172775" y="9322030"/>
                </a:lnTo>
                <a:lnTo>
                  <a:pt x="0" y="9322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7115" y="762425"/>
            <a:ext cx="16645382" cy="8751900"/>
          </a:xfrm>
          <a:custGeom>
            <a:avLst/>
            <a:gdLst/>
            <a:ahLst/>
            <a:cxnLst/>
            <a:rect r="r" b="b" t="t" l="l"/>
            <a:pathLst>
              <a:path h="8751900" w="16645382">
                <a:moveTo>
                  <a:pt x="0" y="0"/>
                </a:moveTo>
                <a:lnTo>
                  <a:pt x="16645382" y="0"/>
                </a:lnTo>
                <a:lnTo>
                  <a:pt x="16645382" y="8751901"/>
                </a:lnTo>
                <a:lnTo>
                  <a:pt x="0" y="87519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539877" y="6623726"/>
            <a:ext cx="3329978" cy="3329977"/>
          </a:xfrm>
          <a:custGeom>
            <a:avLst/>
            <a:gdLst/>
            <a:ahLst/>
            <a:cxnLst/>
            <a:rect r="r" b="b" t="t" l="l"/>
            <a:pathLst>
              <a:path h="3329977" w="3329978">
                <a:moveTo>
                  <a:pt x="0" y="0"/>
                </a:moveTo>
                <a:lnTo>
                  <a:pt x="3329978" y="0"/>
                </a:lnTo>
                <a:lnTo>
                  <a:pt x="3329978" y="3329977"/>
                </a:lnTo>
                <a:lnTo>
                  <a:pt x="0" y="3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13204" y="1366790"/>
            <a:ext cx="13019115" cy="57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b="true" sz="4067" spc="1309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CLASE CARPETA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4191000"/>
            <a:ext cx="7594061" cy="334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Función que busca mensajes que coincidan con un criterio en su contenido o remitente, recorriendo también las subcarpetas de forma recursiva. Permite localizar información específica dentro del sistema.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981425" y="3848100"/>
            <a:ext cx="8229133" cy="3437122"/>
            <a:chOff x="0" y="0"/>
            <a:chExt cx="10972177" cy="45828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165" cy="4582795"/>
            </a:xfrm>
            <a:custGeom>
              <a:avLst/>
              <a:gdLst/>
              <a:ahLst/>
              <a:cxnLst/>
              <a:rect r="r" b="b" t="t" l="l"/>
              <a:pathLst>
                <a:path h="4582795" w="10972165">
                  <a:moveTo>
                    <a:pt x="0" y="0"/>
                  </a:moveTo>
                  <a:lnTo>
                    <a:pt x="10972165" y="0"/>
                  </a:lnTo>
                  <a:lnTo>
                    <a:pt x="10972165" y="4582795"/>
                  </a:lnTo>
                  <a:lnTo>
                    <a:pt x="0" y="4582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7435" t="0" r="-17435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9905" y="127350"/>
            <a:ext cx="17648095" cy="9796188"/>
          </a:xfrm>
          <a:custGeom>
            <a:avLst/>
            <a:gdLst/>
            <a:ahLst/>
            <a:cxnLst/>
            <a:rect r="r" b="b" t="t" l="l"/>
            <a:pathLst>
              <a:path h="9796188" w="17648095">
                <a:moveTo>
                  <a:pt x="0" y="0"/>
                </a:moveTo>
                <a:lnTo>
                  <a:pt x="17648095" y="0"/>
                </a:lnTo>
                <a:lnTo>
                  <a:pt x="17648095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6317" y="1719615"/>
            <a:ext cx="6015272" cy="6356958"/>
          </a:xfrm>
          <a:custGeom>
            <a:avLst/>
            <a:gdLst/>
            <a:ahLst/>
            <a:cxnLst/>
            <a:rect r="r" b="b" t="t" l="l"/>
            <a:pathLst>
              <a:path h="6356958" w="6015272">
                <a:moveTo>
                  <a:pt x="0" y="0"/>
                </a:moveTo>
                <a:lnTo>
                  <a:pt x="6015271" y="0"/>
                </a:lnTo>
                <a:lnTo>
                  <a:pt x="6015271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72565" y="643755"/>
            <a:ext cx="4784675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Clase carpeta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210" y="0"/>
            <a:ext cx="17648095" cy="9796188"/>
          </a:xfrm>
          <a:custGeom>
            <a:avLst/>
            <a:gdLst/>
            <a:ahLst/>
            <a:cxnLst/>
            <a:rect r="r" b="b" t="t" l="l"/>
            <a:pathLst>
              <a:path h="9796188" w="17648095">
                <a:moveTo>
                  <a:pt x="0" y="0"/>
                </a:moveTo>
                <a:lnTo>
                  <a:pt x="17648095" y="0"/>
                </a:lnTo>
                <a:lnTo>
                  <a:pt x="17648095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6650" y="1162467"/>
            <a:ext cx="10415429" cy="2280751"/>
          </a:xfrm>
          <a:custGeom>
            <a:avLst/>
            <a:gdLst/>
            <a:ahLst/>
            <a:cxnLst/>
            <a:rect r="r" b="b" t="t" l="l"/>
            <a:pathLst>
              <a:path h="2280751" w="10415429">
                <a:moveTo>
                  <a:pt x="0" y="0"/>
                </a:moveTo>
                <a:lnTo>
                  <a:pt x="10415429" y="0"/>
                </a:lnTo>
                <a:lnTo>
                  <a:pt x="10415429" y="2280751"/>
                </a:lnTo>
                <a:lnTo>
                  <a:pt x="0" y="2280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6650" y="3767743"/>
            <a:ext cx="10415429" cy="2161366"/>
          </a:xfrm>
          <a:custGeom>
            <a:avLst/>
            <a:gdLst/>
            <a:ahLst/>
            <a:cxnLst/>
            <a:rect r="r" b="b" t="t" l="l"/>
            <a:pathLst>
              <a:path h="2161366" w="10415429">
                <a:moveTo>
                  <a:pt x="0" y="0"/>
                </a:moveTo>
                <a:lnTo>
                  <a:pt x="10415429" y="0"/>
                </a:lnTo>
                <a:lnTo>
                  <a:pt x="10415429" y="2161366"/>
                </a:lnTo>
                <a:lnTo>
                  <a:pt x="0" y="21613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50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6650" y="6253634"/>
            <a:ext cx="10415429" cy="1063391"/>
          </a:xfrm>
          <a:custGeom>
            <a:avLst/>
            <a:gdLst/>
            <a:ahLst/>
            <a:cxnLst/>
            <a:rect r="r" b="b" t="t" l="l"/>
            <a:pathLst>
              <a:path h="1063391" w="10415429">
                <a:moveTo>
                  <a:pt x="0" y="0"/>
                </a:moveTo>
                <a:lnTo>
                  <a:pt x="10415429" y="0"/>
                </a:lnTo>
                <a:lnTo>
                  <a:pt x="10415429" y="1063391"/>
                </a:lnTo>
                <a:lnTo>
                  <a:pt x="0" y="10633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40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07959" y="454773"/>
            <a:ext cx="14574596" cy="59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8"/>
              </a:lnSpc>
            </a:pPr>
            <a:r>
              <a:rPr lang="en-US" b="true" sz="4067" spc="1309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Clase Servidor Correo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84168" y="1348187"/>
            <a:ext cx="6356956" cy="207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4"/>
              </a:lnSpc>
              <a:spcBef>
                <a:spcPct val="0"/>
              </a:spcBef>
            </a:pPr>
            <a:r>
              <a:rPr lang="en-US" b="true" sz="2056" spc="66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Define la clase ServidorCorreo, con su nombre, </a:t>
            </a:r>
            <a:r>
              <a:rPr lang="en-US" b="true" sz="2056" spc="66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la lista de usuarios y las conexiones a otros servidores. Se importa deque para poder recorrer la red de forma eficiente.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84168" y="3777268"/>
            <a:ext cx="6356956" cy="1720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  <a:spcBef>
                <a:spcPct val="0"/>
              </a:spcBef>
            </a:pPr>
            <a:r>
              <a:rPr lang="en-US" b="true" sz="2014" spc="648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Permite agregar usuarios a</a:t>
            </a:r>
            <a:r>
              <a:rPr lang="en-US" b="true" sz="2014" spc="648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 servidor y conectar servidores entre sí de forma bidireccional, formando la red (grafo) por donde viajarán los mensajes.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84168" y="6263159"/>
            <a:ext cx="6324571" cy="177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7"/>
              </a:lnSpc>
              <a:spcBef>
                <a:spcPct val="0"/>
              </a:spcBef>
            </a:pPr>
            <a:r>
              <a:rPr lang="en-US" b="true" sz="2068" spc="66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Entrega el mensaje directamente al destinatario llamando a su método recibir_mensaje. Es el envío “local” sin preocuparse por la red.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804" y="0"/>
            <a:ext cx="17648095" cy="9796188"/>
          </a:xfrm>
          <a:custGeom>
            <a:avLst/>
            <a:gdLst/>
            <a:ahLst/>
            <a:cxnLst/>
            <a:rect r="r" b="b" t="t" l="l"/>
            <a:pathLst>
              <a:path h="9796188" w="17648095">
                <a:moveTo>
                  <a:pt x="0" y="0"/>
                </a:moveTo>
                <a:lnTo>
                  <a:pt x="17648096" y="0"/>
                </a:lnTo>
                <a:lnTo>
                  <a:pt x="17648096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6201" y="1032212"/>
            <a:ext cx="6824493" cy="5239078"/>
          </a:xfrm>
          <a:custGeom>
            <a:avLst/>
            <a:gdLst/>
            <a:ahLst/>
            <a:cxnLst/>
            <a:rect r="r" b="b" t="t" l="l"/>
            <a:pathLst>
              <a:path h="5239078" w="6824493">
                <a:moveTo>
                  <a:pt x="0" y="0"/>
                </a:moveTo>
                <a:lnTo>
                  <a:pt x="6824493" y="0"/>
                </a:lnTo>
                <a:lnTo>
                  <a:pt x="6824493" y="5239078"/>
                </a:lnTo>
                <a:lnTo>
                  <a:pt x="0" y="52390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89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11346" y="1032212"/>
            <a:ext cx="8747954" cy="5608400"/>
          </a:xfrm>
          <a:custGeom>
            <a:avLst/>
            <a:gdLst/>
            <a:ahLst/>
            <a:cxnLst/>
            <a:rect r="r" b="b" t="t" l="l"/>
            <a:pathLst>
              <a:path h="5608400" w="8747954">
                <a:moveTo>
                  <a:pt x="0" y="0"/>
                </a:moveTo>
                <a:lnTo>
                  <a:pt x="8747954" y="0"/>
                </a:lnTo>
                <a:lnTo>
                  <a:pt x="8747954" y="5608400"/>
                </a:lnTo>
                <a:lnTo>
                  <a:pt x="0" y="5608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88" t="0" r="-20057" b="-277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48890" y="439300"/>
            <a:ext cx="13019115" cy="59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8"/>
              </a:lnSpc>
            </a:pPr>
            <a:r>
              <a:rPr lang="en-US" b="true" sz="4067" spc="1309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Clase Servidor Correo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6201" y="6408170"/>
            <a:ext cx="6824493" cy="208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  <a:spcBef>
                <a:spcPct val="0"/>
              </a:spcBef>
            </a:pPr>
            <a:r>
              <a:rPr lang="en-US" b="true" sz="2053" spc="66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Recorre </a:t>
            </a:r>
            <a:r>
              <a:rPr lang="en-US" b="true" sz="2053" spc="66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la red de servidores “por niveles” usando una cola (BFS). Va visitando servidores cercanos primero hasta encontrar el servidor destino y, cuando lo logra, entrega el mensaje.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11346" y="6712866"/>
            <a:ext cx="8747954" cy="177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7"/>
              </a:lnSpc>
              <a:spcBef>
                <a:spcPct val="0"/>
              </a:spcBef>
            </a:pPr>
            <a:r>
              <a:rPr lang="en-US" b="true" sz="2067" spc="66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Recorre la red “en profundidad” usando recursividad (DFS). Va siguiendo un camino lo más lejos posib</a:t>
            </a:r>
            <a:r>
              <a:rPr lang="en-US" b="true" sz="2067" spc="66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le antes de retroceder. Cuando encuentra el servidor destino, detiene la búsqueda y entrega el mensaje.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210" y="245406"/>
            <a:ext cx="17648095" cy="9796188"/>
          </a:xfrm>
          <a:custGeom>
            <a:avLst/>
            <a:gdLst/>
            <a:ahLst/>
            <a:cxnLst/>
            <a:rect r="r" b="b" t="t" l="l"/>
            <a:pathLst>
              <a:path h="9796188" w="17648095">
                <a:moveTo>
                  <a:pt x="0" y="0"/>
                </a:moveTo>
                <a:lnTo>
                  <a:pt x="17648095" y="0"/>
                </a:lnTo>
                <a:lnTo>
                  <a:pt x="17648095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721" y="2556642"/>
            <a:ext cx="8820985" cy="6304788"/>
          </a:xfrm>
          <a:custGeom>
            <a:avLst/>
            <a:gdLst/>
            <a:ahLst/>
            <a:cxnLst/>
            <a:rect r="r" b="b" t="t" l="l"/>
            <a:pathLst>
              <a:path h="6304788" w="8820985">
                <a:moveTo>
                  <a:pt x="0" y="0"/>
                </a:moveTo>
                <a:lnTo>
                  <a:pt x="8820985" y="0"/>
                </a:lnTo>
                <a:lnTo>
                  <a:pt x="8820985" y="6304789"/>
                </a:lnTo>
                <a:lnTo>
                  <a:pt x="0" y="6304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13204" y="1366790"/>
            <a:ext cx="14574596" cy="57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8"/>
              </a:lnSpc>
            </a:pPr>
            <a:r>
              <a:rPr lang="en-US" b="true" sz="4067" spc="1309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CLASE MENSAJE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87093" y="3490541"/>
            <a:ext cx="7594061" cy="389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1"/>
              </a:lnSpc>
            </a:pPr>
            <a:r>
              <a:rPr lang="en-US" sz="270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clase Mensaje define un mensaje compuesto por tres atributos: remitente, destino y contenido. Utiliza propiedades (@property) para acceder a cada uno de ellos de manera segura, manteniendo el encapsulamiento y una estructura clara en el código.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9952" y="245406"/>
            <a:ext cx="17648095" cy="9796188"/>
          </a:xfrm>
          <a:custGeom>
            <a:avLst/>
            <a:gdLst/>
            <a:ahLst/>
            <a:cxnLst/>
            <a:rect r="r" b="b" t="t" l="l"/>
            <a:pathLst>
              <a:path h="9796188" w="17648095">
                <a:moveTo>
                  <a:pt x="0" y="0"/>
                </a:moveTo>
                <a:lnTo>
                  <a:pt x="17648096" y="0"/>
                </a:lnTo>
                <a:lnTo>
                  <a:pt x="17648096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2070754" y="435788"/>
            <a:ext cx="13019115" cy="59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8"/>
              </a:lnSpc>
            </a:pPr>
            <a:r>
              <a:rPr lang="en-US" b="true" sz="4067" spc="1309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MENU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5438" y="990600"/>
            <a:ext cx="16157125" cy="887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2128" u="sng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1) Importación de clases principales</a:t>
            </a:r>
          </a:p>
          <a:p>
            <a:pPr algn="l">
              <a:lnSpc>
                <a:spcPts val="2839"/>
              </a:lnSpc>
            </a:pPr>
            <a:r>
              <a:rPr lang="en-US" sz="2028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 programa trae las clases Usuario, Mensaje y ServidorCorreo, que son los elementos fundamentales del sistema: permiten gestionar usuarios, crear mensajes y administrar servidores interconectados.</a:t>
            </a:r>
          </a:p>
          <a:p>
            <a:pPr algn="l">
              <a:lnSpc>
                <a:spcPts val="2979"/>
              </a:lnSpc>
            </a:pPr>
            <a:r>
              <a:rPr lang="en-US" b="true" sz="2128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2) Estructuras globales del sistema</a:t>
            </a:r>
          </a:p>
          <a:p>
            <a:pPr algn="l">
              <a:lnSpc>
                <a:spcPts val="2839"/>
              </a:lnSpc>
            </a:pPr>
            <a:r>
              <a:rPr lang="en-US" sz="2028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 definen dos estructuras globales:</a:t>
            </a:r>
          </a:p>
          <a:p>
            <a:pPr algn="l">
              <a:lnSpc>
                <a:spcPts val="2839"/>
              </a:lnSpc>
            </a:pPr>
            <a:r>
              <a:rPr lang="en-US" sz="2028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Una lista con todos los servidores creados.</a:t>
            </a:r>
          </a:p>
          <a:p>
            <a:pPr algn="l">
              <a:lnSpc>
                <a:spcPts val="2839"/>
              </a:lnSpc>
            </a:pPr>
            <a:r>
              <a:rPr lang="en-US" sz="2028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Un diccionario con todos los usuarios registrados.</a:t>
            </a:r>
          </a:p>
          <a:p>
            <a:pPr algn="l">
              <a:lnSpc>
                <a:spcPts val="2839"/>
              </a:lnSpc>
            </a:pPr>
            <a:r>
              <a:rPr lang="en-US" sz="2028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Esto permite que el sistema recuerde y gestione a todos los participantes.</a:t>
            </a:r>
          </a:p>
          <a:p>
            <a:pPr algn="l">
              <a:lnSpc>
                <a:spcPts val="2979"/>
              </a:lnSpc>
            </a:pPr>
            <a:r>
              <a:rPr lang="en-US" b="true" sz="2128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3) Menú principal (interfaz del administrador)</a:t>
            </a:r>
          </a:p>
          <a:p>
            <a:pPr algn="l">
              <a:lnSpc>
                <a:spcPts val="2839"/>
              </a:lnSpc>
            </a:pPr>
            <a:r>
              <a:rPr lang="en-US" sz="2028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 presenta un menú en consola que permite crear servidores, conectarlos, registrar usuarios, iniciar sesión y visualizar conexiones. Es el panel de control del sistema.</a:t>
            </a:r>
          </a:p>
          <a:p>
            <a:pPr algn="l">
              <a:lnSpc>
                <a:spcPts val="2979"/>
              </a:lnSpc>
            </a:pPr>
            <a:r>
              <a:rPr lang="en-US" b="true" sz="2128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4) Crear un servidor</a:t>
            </a:r>
          </a:p>
          <a:p>
            <a:pPr algn="l">
              <a:lnSpc>
                <a:spcPts val="2839"/>
              </a:lnSpc>
            </a:pPr>
            <a:r>
              <a:rPr lang="en-US" sz="2028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Permite ingresar un nombre y generar un nuevo servidor de correo, que se guarda en la lista global de servidores para ser usado por usuarios y otros servidores.</a:t>
            </a:r>
          </a:p>
          <a:p>
            <a:pPr algn="l">
              <a:lnSpc>
                <a:spcPts val="2979"/>
              </a:lnSpc>
            </a:pPr>
            <a:r>
              <a:rPr lang="en-US" b="true" sz="2128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5) Conectar servidores entre sí</a:t>
            </a:r>
          </a:p>
          <a:p>
            <a:pPr algn="l">
              <a:lnSpc>
                <a:spcPts val="2839"/>
              </a:lnSpc>
            </a:pPr>
            <a:r>
              <a:rPr lang="en-US" sz="2028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 usuario puede elegir dos servidores y establecer una conexión directa entre ellos. Esto crea una red donde los mensajes pueden viajar usando recorridos BFS o DFS.</a:t>
            </a:r>
          </a:p>
          <a:p>
            <a:pPr algn="l">
              <a:lnSpc>
                <a:spcPts val="2979"/>
              </a:lnSpc>
            </a:pPr>
            <a:r>
              <a:rPr lang="en-US" b="true" sz="2128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6) Registrar un usuario en un servidor</a:t>
            </a:r>
          </a:p>
          <a:p>
            <a:pPr algn="l">
              <a:lnSpc>
                <a:spcPts val="2839"/>
              </a:lnSpc>
            </a:pPr>
            <a:r>
              <a:rPr lang="en-US" sz="2028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 solicita email y contraseña, se crea un objeto Usuario y se asigna a un servidor elegido. El usuario también se guarda en el diccionario global para futuras búsquedas.</a:t>
            </a:r>
          </a:p>
          <a:p>
            <a:pPr algn="l">
              <a:lnSpc>
                <a:spcPts val="2979"/>
              </a:lnSpc>
            </a:pPr>
            <a:r>
              <a:rPr lang="en-US" b="true" sz="2128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7) Iniciar sesión de un usuario</a:t>
            </a:r>
          </a:p>
          <a:p>
            <a:pPr algn="l">
              <a:lnSpc>
                <a:spcPts val="2839"/>
              </a:lnSpc>
            </a:pPr>
            <a:r>
              <a:rPr lang="en-US" sz="2028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 valida la contraseña y se busca automáticamente en qué servidor está registrado ese usuario. Si todo está correcto, se abre el menú específico del usuario.</a:t>
            </a:r>
          </a:p>
          <a:p>
            <a:pPr algn="ctr">
              <a:lnSpc>
                <a:spcPts val="2559"/>
              </a:lnSpc>
            </a:pPr>
          </a:p>
          <a:p>
            <a:pPr algn="ctr">
              <a:lnSpc>
                <a:spcPts val="255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11" y="235649"/>
            <a:ext cx="18107778" cy="10051351"/>
          </a:xfrm>
          <a:custGeom>
            <a:avLst/>
            <a:gdLst/>
            <a:ahLst/>
            <a:cxnLst/>
            <a:rect r="r" b="b" t="t" l="l"/>
            <a:pathLst>
              <a:path h="10051351" w="18107778">
                <a:moveTo>
                  <a:pt x="0" y="0"/>
                </a:moveTo>
                <a:lnTo>
                  <a:pt x="18107778" y="0"/>
                </a:lnTo>
                <a:lnTo>
                  <a:pt x="18107778" y="10051351"/>
                </a:lnTo>
                <a:lnTo>
                  <a:pt x="0" y="100513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2471" y="772945"/>
            <a:ext cx="17121649" cy="84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b="true" sz="2116" spc="681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8) Menú de usuario (interfaz del usuario final)</a:t>
            </a:r>
          </a:p>
          <a:p>
            <a:pPr algn="l">
              <a:lnSpc>
                <a:spcPts val="2298"/>
              </a:lnSpc>
            </a:pPr>
            <a:r>
              <a:rPr lang="en-US" sz="2016" spc="64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Una vez dentro, cada usuario puede:</a:t>
            </a:r>
          </a:p>
          <a:p>
            <a:pPr algn="l" marL="435272" indent="-217636" lvl="1">
              <a:lnSpc>
                <a:spcPts val="22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16" spc="6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Enviar mensajes locales</a:t>
            </a:r>
          </a:p>
          <a:p>
            <a:pPr algn="l" marL="435272" indent="-217636" lvl="1">
              <a:lnSpc>
                <a:spcPts val="22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16" spc="6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Enviar mensajes entre servidores</a:t>
            </a:r>
          </a:p>
          <a:p>
            <a:pPr algn="l" marL="435272" indent="-217636" lvl="1">
              <a:lnSpc>
                <a:spcPts val="22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16" spc="6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Ver su bandeja de entrada</a:t>
            </a:r>
          </a:p>
          <a:p>
            <a:pPr algn="l" marL="435272" indent="-217636" lvl="1">
              <a:lnSpc>
                <a:spcPts val="22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16" spc="6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Ver mensajes urgentes</a:t>
            </a:r>
          </a:p>
          <a:p>
            <a:pPr algn="l" marL="435272" indent="-217636" lvl="1">
              <a:lnSpc>
                <a:spcPts val="22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16" spc="6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Usar filtros de palabras clave</a:t>
            </a:r>
          </a:p>
          <a:p>
            <a:pPr algn="l">
              <a:lnSpc>
                <a:spcPts val="2298"/>
              </a:lnSpc>
              <a:spcBef>
                <a:spcPct val="0"/>
              </a:spcBef>
            </a:pPr>
            <a:r>
              <a:rPr lang="en-US" b="true" sz="2016" spc="6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Es la parte funcional donde el usuario interactúa directamente con el sistema.</a:t>
            </a:r>
          </a:p>
          <a:p>
            <a:pPr algn="l">
              <a:lnSpc>
                <a:spcPts val="2412"/>
              </a:lnSpc>
              <a:spcBef>
                <a:spcPct val="0"/>
              </a:spcBef>
            </a:pPr>
            <a:r>
              <a:rPr lang="en-US" b="true" sz="2116" spc="681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9) Enviar mensaje dentro del mismo servidor</a:t>
            </a:r>
          </a:p>
          <a:p>
            <a:pPr algn="l">
              <a:lnSpc>
                <a:spcPts val="2298"/>
              </a:lnSpc>
              <a:spcBef>
                <a:spcPct val="0"/>
              </a:spcBef>
            </a:pPr>
            <a:r>
              <a:rPr lang="en-US" b="true" sz="2016" spc="6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Crea un mensaje simple y lo entrega directamente al usuario destinatario que está en el mismo servidor.</a:t>
            </a:r>
          </a:p>
          <a:p>
            <a:pPr algn="l">
              <a:lnSpc>
                <a:spcPts val="2412"/>
              </a:lnSpc>
              <a:spcBef>
                <a:spcPct val="0"/>
              </a:spcBef>
            </a:pPr>
            <a:r>
              <a:rPr lang="en-US" b="true" sz="2116" spc="681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10) Enviar mensaje por la red (BFS/DFS)</a:t>
            </a:r>
          </a:p>
          <a:p>
            <a:pPr algn="l">
              <a:lnSpc>
                <a:spcPts val="2298"/>
              </a:lnSpc>
              <a:spcBef>
                <a:spcPct val="0"/>
              </a:spcBef>
            </a:pPr>
            <a:r>
              <a:rPr lang="en-US" b="true" sz="2016" spc="6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Si el destinatario está en otro servidor, el mensaje se envía recorriendo la red de servidores conectados, usando:</a:t>
            </a:r>
          </a:p>
          <a:p>
            <a:pPr algn="l" marL="435272" indent="-217636" lvl="1">
              <a:lnSpc>
                <a:spcPts val="22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16" spc="6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BFS (búsqueda en anchura)</a:t>
            </a:r>
          </a:p>
          <a:p>
            <a:pPr algn="l" marL="435272" indent="-217636" lvl="1">
              <a:lnSpc>
                <a:spcPts val="22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16" spc="6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DFS (búsqueda en profundidad)</a:t>
            </a:r>
          </a:p>
          <a:p>
            <a:pPr algn="l" marL="435272" indent="-217636" lvl="1">
              <a:lnSpc>
                <a:spcPts val="22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16" spc="6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Esto simula cómo circularía un mensaje en una red distribuida.</a:t>
            </a:r>
          </a:p>
          <a:p>
            <a:pPr algn="l">
              <a:lnSpc>
                <a:spcPts val="2412"/>
              </a:lnSpc>
              <a:spcBef>
                <a:spcPct val="0"/>
              </a:spcBef>
            </a:pPr>
            <a:r>
              <a:rPr lang="en-US" b="true" sz="2116" spc="681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11) Ver bandeja de entrada</a:t>
            </a:r>
          </a:p>
          <a:p>
            <a:pPr algn="l">
              <a:lnSpc>
                <a:spcPts val="2298"/>
              </a:lnSpc>
              <a:spcBef>
                <a:spcPct val="0"/>
              </a:spcBef>
            </a:pPr>
            <a:r>
              <a:rPr lang="en-US" b="true" sz="2016" spc="6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Muestra todos los mensajes recibidos por el usuario, con remitente y contenido.</a:t>
            </a:r>
          </a:p>
          <a:p>
            <a:pPr algn="l">
              <a:lnSpc>
                <a:spcPts val="2412"/>
              </a:lnSpc>
              <a:spcBef>
                <a:spcPct val="0"/>
              </a:spcBef>
            </a:pPr>
            <a:r>
              <a:rPr lang="en-US" b="true" sz="2116" spc="681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12) Ver mensajes urgentes</a:t>
            </a:r>
          </a:p>
          <a:p>
            <a:pPr algn="l">
              <a:lnSpc>
                <a:spcPts val="2298"/>
              </a:lnSpc>
              <a:spcBef>
                <a:spcPct val="0"/>
              </a:spcBef>
            </a:pPr>
            <a:r>
              <a:rPr lang="en-US" b="true" sz="2016" spc="6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Llama a un método que filtra y muestra únicamente los mensajes marcados como importantes.</a:t>
            </a:r>
          </a:p>
          <a:p>
            <a:pPr algn="l">
              <a:lnSpc>
                <a:spcPts val="2412"/>
              </a:lnSpc>
              <a:spcBef>
                <a:spcPct val="0"/>
              </a:spcBef>
            </a:pPr>
            <a:r>
              <a:rPr lang="en-US" b="true" sz="2116" spc="681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13) Agregar y ver filtros de búsqueda</a:t>
            </a:r>
          </a:p>
          <a:p>
            <a:pPr algn="l">
              <a:lnSpc>
                <a:spcPts val="2298"/>
              </a:lnSpc>
              <a:spcBef>
                <a:spcPct val="0"/>
              </a:spcBef>
            </a:pPr>
            <a:r>
              <a:rPr lang="en-US" b="true" sz="2016" spc="6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 usuario puede definir palabras clave para filtrar mensajes y luego ver solo aquellos que coincidan con esas palabras.</a:t>
            </a:r>
          </a:p>
          <a:p>
            <a:pPr algn="l">
              <a:lnSpc>
                <a:spcPts val="2412"/>
              </a:lnSpc>
              <a:spcBef>
                <a:spcPct val="0"/>
              </a:spcBef>
            </a:pPr>
            <a:r>
              <a:rPr lang="en-US" b="true" sz="2116" spc="681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14) Cerrar sesión</a:t>
            </a:r>
          </a:p>
          <a:p>
            <a:pPr algn="l">
              <a:lnSpc>
                <a:spcPts val="2298"/>
              </a:lnSpc>
              <a:spcBef>
                <a:spcPct val="0"/>
              </a:spcBef>
            </a:pPr>
            <a:r>
              <a:rPr lang="en-US" b="true" sz="2016" spc="64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Finaliza el menú de usuario y retorna al menú principal del sistema.</a:t>
            </a:r>
          </a:p>
          <a:p>
            <a:pPr algn="ctr">
              <a:lnSpc>
                <a:spcPts val="22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1814" y="245406"/>
            <a:ext cx="17627491" cy="9796188"/>
          </a:xfrm>
          <a:custGeom>
            <a:avLst/>
            <a:gdLst/>
            <a:ahLst/>
            <a:cxnLst/>
            <a:rect r="r" b="b" t="t" l="l"/>
            <a:pathLst>
              <a:path h="9796188" w="17627491">
                <a:moveTo>
                  <a:pt x="0" y="0"/>
                </a:moveTo>
                <a:lnTo>
                  <a:pt x="17627491" y="0"/>
                </a:lnTo>
                <a:lnTo>
                  <a:pt x="17627491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1676" y="482485"/>
            <a:ext cx="17172776" cy="9322030"/>
          </a:xfrm>
          <a:custGeom>
            <a:avLst/>
            <a:gdLst/>
            <a:ahLst/>
            <a:cxnLst/>
            <a:rect r="r" b="b" t="t" l="l"/>
            <a:pathLst>
              <a:path h="9322030" w="17172776">
                <a:moveTo>
                  <a:pt x="0" y="0"/>
                </a:moveTo>
                <a:lnTo>
                  <a:pt x="17172775" y="0"/>
                </a:lnTo>
                <a:lnTo>
                  <a:pt x="17172775" y="9322030"/>
                </a:lnTo>
                <a:lnTo>
                  <a:pt x="0" y="9322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5195488" y="6957023"/>
            <a:ext cx="3329978" cy="3329977"/>
          </a:xfrm>
          <a:custGeom>
            <a:avLst/>
            <a:gdLst/>
            <a:ahLst/>
            <a:cxnLst/>
            <a:rect r="r" b="b" t="t" l="l"/>
            <a:pathLst>
              <a:path h="3329977" w="3329978">
                <a:moveTo>
                  <a:pt x="0" y="0"/>
                </a:moveTo>
                <a:lnTo>
                  <a:pt x="3329978" y="0"/>
                </a:lnTo>
                <a:lnTo>
                  <a:pt x="3329978" y="3329977"/>
                </a:lnTo>
                <a:lnTo>
                  <a:pt x="0" y="3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41362" y="684995"/>
            <a:ext cx="13019115" cy="115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8"/>
              </a:lnSpc>
            </a:pPr>
            <a:r>
              <a:rPr lang="en-US" b="true" sz="7868" spc="2533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DIFICULTADES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1676" y="2094378"/>
            <a:ext cx="16348801" cy="851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6364" indent="-203182" lvl="1">
              <a:lnSpc>
                <a:spcPts val="3086"/>
              </a:lnSpc>
              <a:buFont typeface="Arial"/>
              <a:buChar char="•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Separación del código en módulos</a:t>
            </a:r>
          </a:p>
          <a:p>
            <a:pPr algn="l" marL="812727" indent="-270909" lvl="2">
              <a:lnSpc>
                <a:spcPts val="3086"/>
              </a:lnSpc>
              <a:buFont typeface="Arial"/>
              <a:buChar char="⚬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 la primera entrega todo estaba en un solo archivo.</a:t>
            </a:r>
          </a:p>
          <a:p>
            <a:pPr algn="l" marL="812727" indent="-270909" lvl="2">
              <a:lnSpc>
                <a:spcPts val="3086"/>
              </a:lnSpc>
              <a:buFont typeface="Arial"/>
              <a:buChar char="⚬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Para la segunda nos pidieron dividirlo y fue nuestro primer trabajo modular.</a:t>
            </a:r>
          </a:p>
          <a:p>
            <a:pPr algn="l" marL="812727" indent="-270909" lvl="2">
              <a:lnSpc>
                <a:spcPts val="3086"/>
              </a:lnSpc>
              <a:buFont typeface="Arial"/>
              <a:buChar char="⚬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Costó dejarlo funcionando, pero con videos y documentación pudimos lograrlo.</a:t>
            </a:r>
          </a:p>
          <a:p>
            <a:pPr algn="l" marL="406364" indent="-203182" lvl="1">
              <a:lnSpc>
                <a:spcPts val="3086"/>
              </a:lnSpc>
              <a:buFont typeface="Arial"/>
              <a:buChar char="•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Implementación del árbol general</a:t>
            </a:r>
          </a:p>
          <a:p>
            <a:pPr algn="l" marL="812727" indent="-270909" lvl="2">
              <a:lnSpc>
                <a:spcPts val="3086"/>
              </a:lnSpc>
              <a:buFont typeface="Arial"/>
              <a:buChar char="⚬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 teníamos experiencia con esta estructura.</a:t>
            </a:r>
          </a:p>
          <a:p>
            <a:pPr algn="l" marL="812727" indent="-270909" lvl="2">
              <a:lnSpc>
                <a:spcPts val="3086"/>
              </a:lnSpc>
              <a:buFont typeface="Arial"/>
              <a:buChar char="⚬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Requirió mucha investigación y práctica.</a:t>
            </a:r>
          </a:p>
          <a:p>
            <a:pPr algn="l" marL="812727" indent="-270909" lvl="2">
              <a:lnSpc>
                <a:spcPts val="3086"/>
              </a:lnSpc>
              <a:buFont typeface="Arial"/>
              <a:buChar char="⚬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Finalmente logramos implementarlo correctamente.</a:t>
            </a:r>
          </a:p>
          <a:p>
            <a:pPr algn="l" marL="406364" indent="-203182" lvl="1">
              <a:lnSpc>
                <a:spcPts val="3086"/>
              </a:lnSpc>
              <a:buFont typeface="Arial"/>
              <a:buChar char="•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Problema durante la tercera entrega</a:t>
            </a:r>
          </a:p>
          <a:p>
            <a:pPr algn="l" marL="812727" indent="-270909" lvl="2">
              <a:lnSpc>
                <a:spcPts val="3086"/>
              </a:lnSpc>
              <a:buFont typeface="Arial"/>
              <a:buChar char="⚬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 terminar los filtros, se cortó la luz en la PC donde se escribía el código.</a:t>
            </a:r>
          </a:p>
          <a:p>
            <a:pPr algn="l" marL="812727" indent="-270909" lvl="2">
              <a:lnSpc>
                <a:spcPts val="3086"/>
              </a:lnSpc>
              <a:buFont typeface="Arial"/>
              <a:buChar char="⚬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 había autoguardado, por lo que se perdió todo el avance.</a:t>
            </a:r>
          </a:p>
          <a:p>
            <a:pPr algn="l" marL="812727" indent="-270909" lvl="2">
              <a:lnSpc>
                <a:spcPts val="3086"/>
              </a:lnSpc>
              <a:buFont typeface="Arial"/>
              <a:buChar char="⚬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Tuvimos que rehacer esa parte del proyecto desde cero.</a:t>
            </a:r>
          </a:p>
          <a:p>
            <a:pPr algn="l" marL="406364" indent="-203182" lvl="1">
              <a:lnSpc>
                <a:spcPts val="3086"/>
              </a:lnSpc>
              <a:buFont typeface="Arial"/>
              <a:buChar char="•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Implementación de grafos en la última entrega</a:t>
            </a:r>
          </a:p>
          <a:p>
            <a:pPr algn="l" marL="812727" indent="-270909" lvl="2">
              <a:lnSpc>
                <a:spcPts val="3086"/>
              </a:lnSpc>
              <a:buFont typeface="Arial"/>
              <a:buChar char="⚬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Requirió lectura de documentación y armado de un menú funcional.</a:t>
            </a:r>
          </a:p>
          <a:p>
            <a:pPr algn="l" marL="812727" indent="-270909" lvl="2">
              <a:lnSpc>
                <a:spcPts val="3086"/>
              </a:lnSpc>
              <a:buFont typeface="Arial"/>
              <a:buChar char="⚬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Pasamos varios días intentando corregir errores al crear servidores.</a:t>
            </a:r>
          </a:p>
          <a:p>
            <a:pPr algn="l" marL="812727" indent="-270909" lvl="2">
              <a:lnSpc>
                <a:spcPts val="3086"/>
              </a:lnSpc>
              <a:buFont typeface="Arial"/>
              <a:buChar char="⚬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Finalmente funcionó, pero quedó pendiente un problema con los mensajes filtrados que no se muestran.</a:t>
            </a:r>
          </a:p>
          <a:p>
            <a:pPr algn="l" marL="406364" indent="-203182" lvl="1">
              <a:lnSpc>
                <a:spcPts val="3086"/>
              </a:lnSpc>
              <a:buFont typeface="Arial"/>
              <a:buChar char="•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Trabajo futuro</a:t>
            </a:r>
          </a:p>
          <a:p>
            <a:pPr algn="l" marL="812727" indent="-270909" lvl="2">
              <a:lnSpc>
                <a:spcPts val="3086"/>
              </a:lnSpc>
              <a:buFont typeface="Arial"/>
              <a:buChar char="⚬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Mejorar el sistema de filtros.</a:t>
            </a:r>
          </a:p>
          <a:p>
            <a:pPr algn="l" marL="812727" indent="-270909" lvl="2">
              <a:lnSpc>
                <a:spcPts val="3086"/>
              </a:lnSpc>
              <a:buFont typeface="Arial"/>
              <a:buChar char="⚬"/>
            </a:pPr>
            <a:r>
              <a:rPr lang="en-US" sz="18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Optimizar el código y corregir los errores restantes.</a:t>
            </a:r>
          </a:p>
          <a:p>
            <a:pPr algn="ctr">
              <a:lnSpc>
                <a:spcPts val="4606"/>
              </a:lnSpc>
            </a:pPr>
          </a:p>
          <a:p>
            <a:pPr algn="ctr">
              <a:lnSpc>
                <a:spcPts val="460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363482" y="3265676"/>
            <a:ext cx="4275910" cy="4275910"/>
          </a:xfrm>
          <a:custGeom>
            <a:avLst/>
            <a:gdLst/>
            <a:ahLst/>
            <a:cxnLst/>
            <a:rect r="r" b="b" t="t" l="l"/>
            <a:pathLst>
              <a:path h="4275910" w="4275910">
                <a:moveTo>
                  <a:pt x="0" y="0"/>
                </a:moveTo>
                <a:lnTo>
                  <a:pt x="4275910" y="0"/>
                </a:lnTo>
                <a:lnTo>
                  <a:pt x="4275910" y="4275910"/>
                </a:lnTo>
                <a:lnTo>
                  <a:pt x="0" y="42759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210" y="441781"/>
            <a:ext cx="17648095" cy="9796188"/>
          </a:xfrm>
          <a:custGeom>
            <a:avLst/>
            <a:gdLst/>
            <a:ahLst/>
            <a:cxnLst/>
            <a:rect r="r" b="b" t="t" l="l"/>
            <a:pathLst>
              <a:path h="9796188" w="17648095">
                <a:moveTo>
                  <a:pt x="0" y="0"/>
                </a:moveTo>
                <a:lnTo>
                  <a:pt x="17648095" y="0"/>
                </a:lnTo>
                <a:lnTo>
                  <a:pt x="17648095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1814" y="245406"/>
            <a:ext cx="17627491" cy="9796188"/>
          </a:xfrm>
          <a:custGeom>
            <a:avLst/>
            <a:gdLst/>
            <a:ahLst/>
            <a:cxnLst/>
            <a:rect r="r" b="b" t="t" l="l"/>
            <a:pathLst>
              <a:path h="9796188" w="17627491">
                <a:moveTo>
                  <a:pt x="0" y="0"/>
                </a:moveTo>
                <a:lnTo>
                  <a:pt x="17627491" y="0"/>
                </a:lnTo>
                <a:lnTo>
                  <a:pt x="17627491" y="9796188"/>
                </a:lnTo>
                <a:lnTo>
                  <a:pt x="0" y="9796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1676" y="465290"/>
            <a:ext cx="17172776" cy="9322030"/>
          </a:xfrm>
          <a:custGeom>
            <a:avLst/>
            <a:gdLst/>
            <a:ahLst/>
            <a:cxnLst/>
            <a:rect r="r" b="b" t="t" l="l"/>
            <a:pathLst>
              <a:path h="9322030" w="17172776">
                <a:moveTo>
                  <a:pt x="0" y="0"/>
                </a:moveTo>
                <a:lnTo>
                  <a:pt x="17172775" y="0"/>
                </a:lnTo>
                <a:lnTo>
                  <a:pt x="17172775" y="9322030"/>
                </a:lnTo>
                <a:lnTo>
                  <a:pt x="0" y="9322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501437" y="6623726"/>
            <a:ext cx="3329978" cy="3329977"/>
          </a:xfrm>
          <a:custGeom>
            <a:avLst/>
            <a:gdLst/>
            <a:ahLst/>
            <a:cxnLst/>
            <a:rect r="r" b="b" t="t" l="l"/>
            <a:pathLst>
              <a:path h="3329977" w="3329978">
                <a:moveTo>
                  <a:pt x="0" y="0"/>
                </a:moveTo>
                <a:lnTo>
                  <a:pt x="3329978" y="0"/>
                </a:lnTo>
                <a:lnTo>
                  <a:pt x="3329978" y="3329977"/>
                </a:lnTo>
                <a:lnTo>
                  <a:pt x="0" y="3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93584" y="1295445"/>
            <a:ext cx="13019115" cy="1117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8"/>
              </a:lnSpc>
            </a:pPr>
            <a:r>
              <a:rPr lang="en-US" b="true" sz="7868" spc="2533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CONCLUSIONES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7601" y="3273250"/>
            <a:ext cx="13675098" cy="413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3"/>
              </a:lnSpc>
              <a:spcBef>
                <a:spcPct val="0"/>
              </a:spcBef>
            </a:pPr>
            <a:r>
              <a:rPr lang="en-US" b="true" sz="2400" spc="770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Este proyecto fue creciendo entrega tras entrega y, aunque tuvo sus complicaciones, nos permitió entender mucho mejor cómo organizar un sistema real usando POO, árboles, grafos y una estructura modular. Hubo momentos en los que tuvimos que rehacer partes enteras del código o investigar soluciones desde cero, pero justamente eso ayudó a que el resultado final fuera más sólido.</a:t>
            </a:r>
          </a:p>
          <a:p>
            <a:pPr algn="ctr">
              <a:lnSpc>
                <a:spcPts val="2733"/>
              </a:lnSpc>
              <a:spcBef>
                <a:spcPct val="0"/>
              </a:spcBef>
            </a:pPr>
            <a:r>
              <a:rPr lang="en-US" b="true" sz="2400" spc="770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Si bien quedan detalles por mejorar, especialmente en la parte de los filtros, el sistema funciona, es escalable y hoy tiene una base clara para seguir ampliándose.</a:t>
            </a:r>
          </a:p>
          <a:p>
            <a:pPr algn="ctr">
              <a:lnSpc>
                <a:spcPts val="27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DAG4xCmaq7Y</dc:identifier>
  <dcterms:modified xsi:type="dcterms:W3CDTF">2011-08-01T06:04:30Z</dcterms:modified>
  <cp:revision>1</cp:revision>
  <dc:title>TPI</dc:title>
</cp:coreProperties>
</file>