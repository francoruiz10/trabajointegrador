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6" r:id="rId6"/>
    <p:sldId id="262" r:id="rId7"/>
    <p:sldId id="267" r:id="rId8"/>
    <p:sldId id="268" r:id="rId9"/>
    <p:sldId id="269" r:id="rId10"/>
    <p:sldId id="270" r:id="rId11"/>
    <p:sldId id="271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Raleway Heavy" panose="020B0604020202020204" charset="0"/>
      <p:regular r:id="rId21"/>
    </p:embeddedFont>
    <p:embeddedFont>
      <p:font typeface="Raleway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4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384300" y="4524604"/>
            <a:ext cx="15519400" cy="207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8"/>
              </a:lnSpc>
            </a:pPr>
            <a:r>
              <a:rPr lang="es-AR" sz="6212" b="1" spc="310" dirty="0" smtClean="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PROYECTO CORREO ELECTRONICO PARA EMPRESA</a:t>
            </a:r>
            <a:endParaRPr lang="en-US" sz="6212" b="1" spc="310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267976" y="6737594"/>
            <a:ext cx="5675166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 dirty="0" err="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Grupo</a:t>
            </a:r>
            <a:r>
              <a:rPr lang="en-US" sz="1989" dirty="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:  </a:t>
            </a:r>
          </a:p>
          <a:p>
            <a:pPr algn="ctr">
              <a:lnSpc>
                <a:spcPts val="2785"/>
              </a:lnSpc>
            </a:pPr>
            <a:r>
              <a:rPr lang="en-US" sz="1989" dirty="0" smtClean="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Ruiz </a:t>
            </a:r>
            <a:r>
              <a:rPr lang="en-US" sz="1989" dirty="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Franco Javier</a:t>
            </a:r>
          </a:p>
          <a:p>
            <a:pPr algn="ctr">
              <a:lnSpc>
                <a:spcPts val="2785"/>
              </a:lnSpc>
            </a:pPr>
            <a:r>
              <a:rPr lang="en-US" sz="1989" dirty="0" smtClean="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Vargas </a:t>
            </a:r>
            <a:r>
              <a:rPr lang="en-US" sz="1989" dirty="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Kevin Daniel</a:t>
            </a:r>
          </a:p>
          <a:p>
            <a:pPr algn="ctr">
              <a:lnSpc>
                <a:spcPts val="2785"/>
              </a:lnSpc>
            </a:pPr>
            <a:endParaRPr lang="en-US" sz="1989" dirty="0">
              <a:solidFill>
                <a:srgbClr val="27403B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312014" y="3014906"/>
            <a:ext cx="13663973" cy="155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 dirty="0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TPI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525569" y="8767665"/>
            <a:ext cx="5675166" cy="40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5"/>
              </a:lnSpc>
            </a:pPr>
            <a:r>
              <a:rPr lang="en-US" sz="2389" dirty="0" err="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Comisión</a:t>
            </a:r>
            <a:r>
              <a:rPr lang="en-US" sz="2389" dirty="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389" dirty="0" smtClean="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3</a:t>
            </a:r>
            <a:endParaRPr lang="en-US" sz="2389" dirty="0">
              <a:solidFill>
                <a:srgbClr val="27403B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186" cy="4596335"/>
              </a:xfrm>
              <a:custGeom>
                <a:avLst/>
                <a:gdLst/>
                <a:ahLst/>
                <a:cxnLst/>
                <a:rect l="l" t="t" r="r" b="b"/>
                <a:pathLst>
                  <a:path w="334186" h="4596335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5724" cy="4476587"/>
              </a:xfrm>
              <a:custGeom>
                <a:avLst/>
                <a:gdLst/>
                <a:ahLst/>
                <a:cxnLst/>
                <a:rect l="l" t="t" r="r" b="b"/>
                <a:pathLst>
                  <a:path w="335724" h="4476587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38843" cy="4330374"/>
              </a:xfrm>
              <a:custGeom>
                <a:avLst/>
                <a:gdLst/>
                <a:ahLst/>
                <a:cxnLst/>
                <a:rect l="l" t="t" r="r" b="b"/>
                <a:pathLst>
                  <a:path w="338843" h="4330374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1676400" y="2505448"/>
            <a:ext cx="870189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82"/>
              </a:lnSpc>
            </a:pPr>
            <a:r>
              <a:rPr lang="en-US" sz="2916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Sistema de </a:t>
            </a:r>
            <a:r>
              <a:rPr lang="en-US" sz="2916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gestion</a:t>
            </a:r>
            <a:r>
              <a:rPr lang="en-US" sz="2916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 </a:t>
            </a:r>
            <a:r>
              <a:rPr lang="en-US" sz="2916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correo</a:t>
            </a:r>
            <a:r>
              <a:rPr lang="en-US" sz="2916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16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electronico</a:t>
            </a:r>
            <a:r>
              <a:rPr lang="en-US" sz="2916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endParaRPr lang="en-US" sz="2916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113204" y="1347740"/>
            <a:ext cx="13019115" cy="59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4068" b="1" spc="131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QUÉ HACE EL PROYECTO</a:t>
            </a: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1676400" y="3685733"/>
            <a:ext cx="1447223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Permite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crear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usuarios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con email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contraseña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Valida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contraseña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con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reglas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de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longitud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número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de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intentos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Envía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recibe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mensajes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entre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usuarios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carpetas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Clasifica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automáticamente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mensajes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según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filtros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definidos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Detecta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almacena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mensajes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urgentes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una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cola especial.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Organiza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mensajes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carpetas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subcarpetas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jerárquicas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Muestra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estructura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completa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de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carpetas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con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recursividad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Permite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mover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mensajes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entre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carpetas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Realiza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búsquedas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por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contenido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remitente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Usa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herencia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polimorfismo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decoradores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para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mantener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código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modular y extensible.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186" cy="4596335"/>
              </a:xfrm>
              <a:custGeom>
                <a:avLst/>
                <a:gdLst/>
                <a:ahLst/>
                <a:cxnLst/>
                <a:rect l="l" t="t" r="r" b="b"/>
                <a:pathLst>
                  <a:path w="334186" h="4596335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5724" cy="4476587"/>
              </a:xfrm>
              <a:custGeom>
                <a:avLst/>
                <a:gdLst/>
                <a:ahLst/>
                <a:cxnLst/>
                <a:rect l="l" t="t" r="r" b="b"/>
                <a:pathLst>
                  <a:path w="335724" h="4476587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38843" cy="4330374"/>
              </a:xfrm>
              <a:custGeom>
                <a:avLst/>
                <a:gdLst/>
                <a:ahLst/>
                <a:cxnLst/>
                <a:rect l="l" t="t" r="r" b="b"/>
                <a:pathLst>
                  <a:path w="338843" h="4330374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1270565" y="2206951"/>
            <a:ext cx="15779268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</a:t>
            </a:r>
            <a:r>
              <a:rPr lang="en-US" sz="20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estructura</a:t>
            </a: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nuestro</a:t>
            </a: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proyecto</a:t>
            </a: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está</a:t>
            </a: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compuesta</a:t>
            </a: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por</a:t>
            </a: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cinco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clases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principales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Gestion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que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utiliza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metodos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abstracto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donde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luego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esta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la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clase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usuario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y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carpeta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que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herederan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esta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gestion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y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por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ultimo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clas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servidorcorreo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y </a:t>
            </a:r>
            <a:r>
              <a:rPr lang="en-US" sz="2000" dirty="0" err="1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mensaje</a:t>
            </a:r>
            <a:r>
              <a:rPr lang="en-US" sz="20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endParaRPr lang="en-US" sz="20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113204" y="1347740"/>
            <a:ext cx="13019115" cy="59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4068" b="1" spc="131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DISEÑO: CLASES Y ESTRUCTURA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564" y="3744711"/>
            <a:ext cx="9397436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s-MX" sz="2710" dirty="0">
                <a:latin typeface="Garet" panose="020B0604020202020204" charset="0"/>
              </a:rPr>
              <a:t>Clase abstracta que define métodos que las clases ‘Usuario’ y ‘Carpeta’ implementan para enviar, recibir y listar mensajes dentro del sistema de correo.</a:t>
            </a:r>
            <a:endParaRPr lang="en-US" sz="2710" dirty="0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70565" y="7229991"/>
            <a:ext cx="8761113" cy="222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s-MX" sz="2800" dirty="0">
                <a:latin typeface="Garet" panose="020B0604020202020204" charset="0"/>
              </a:rPr>
              <a:t>Clase que representa al usuario del sistema de correo, almacenando su email, contraseña, bandeja de entrada, filtros personalizados y mensajes urgentes.</a:t>
            </a:r>
            <a:endParaRPr lang="en-US" sz="2707" dirty="0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3460059"/>
            <a:ext cx="4419600" cy="3068960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571" y="7108394"/>
            <a:ext cx="6627525" cy="2289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186" cy="4596335"/>
              </a:xfrm>
              <a:custGeom>
                <a:avLst/>
                <a:gdLst/>
                <a:ahLst/>
                <a:cxnLst/>
                <a:rect l="l" t="t" r="r" b="b"/>
                <a:pathLst>
                  <a:path w="334186" h="4596335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5724" cy="4476587"/>
              </a:xfrm>
              <a:custGeom>
                <a:avLst/>
                <a:gdLst/>
                <a:ahLst/>
                <a:cxnLst/>
                <a:rect l="l" t="t" r="r" b="b"/>
                <a:pathLst>
                  <a:path w="335724" h="4476587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38843" cy="4330374"/>
              </a:xfrm>
              <a:custGeom>
                <a:avLst/>
                <a:gdLst/>
                <a:ahLst/>
                <a:cxnLst/>
                <a:rect l="l" t="t" r="r" b="b"/>
                <a:pathLst>
                  <a:path w="338843" h="4330374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2113204" y="1347740"/>
            <a:ext cx="13019115" cy="59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8"/>
              </a:lnSpc>
            </a:pPr>
            <a:r>
              <a:rPr lang="es-AR" sz="4068" b="1" spc="1310" dirty="0" smtClean="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CLASE USUARIO</a:t>
            </a:r>
            <a:endParaRPr lang="en-US" sz="4068" b="1" spc="1310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24000" y="6287329"/>
            <a:ext cx="6772058" cy="222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s-MX" sz="2800" dirty="0"/>
              <a:t>Función que valida la contraseña del usuario, permitiendo hasta 3 intentos y asegurando que tenga entre 6 y 12 caracteres. Mejora la seguridad del acceso al sistema.</a:t>
            </a:r>
            <a:endParaRPr lang="en-US" sz="2707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7939" y="1874792"/>
            <a:ext cx="7623006" cy="3251513"/>
          </a:xfrm>
          <a:prstGeom prst="rect">
            <a:avLst/>
          </a:prstGeom>
        </p:spPr>
      </p:pic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1028700" y="2438141"/>
            <a:ext cx="81915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Decorador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que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muestra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un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mensaje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de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bienvenida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antes de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ejecutar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el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método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mail, que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retorna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el email del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usuario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.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Mejora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la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experiencia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del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sistema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sin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modificar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la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lógica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 principal.  </a:t>
            </a:r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6015168"/>
            <a:ext cx="8129012" cy="33097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186" cy="4596335"/>
              </a:xfrm>
              <a:custGeom>
                <a:avLst/>
                <a:gdLst/>
                <a:ahLst/>
                <a:cxnLst/>
                <a:rect l="l" t="t" r="r" b="b"/>
                <a:pathLst>
                  <a:path w="334186" h="4596335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5724" cy="4476587"/>
              </a:xfrm>
              <a:custGeom>
                <a:avLst/>
                <a:gdLst/>
                <a:ahLst/>
                <a:cxnLst/>
                <a:rect l="l" t="t" r="r" b="b"/>
                <a:pathLst>
                  <a:path w="335724" h="4476587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38843" cy="4330374"/>
              </a:xfrm>
              <a:custGeom>
                <a:avLst/>
                <a:gdLst/>
                <a:ahLst/>
                <a:cxnLst/>
                <a:rect l="l" t="t" r="r" b="b"/>
                <a:pathLst>
                  <a:path w="338843" h="4330374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2113204" y="1347740"/>
            <a:ext cx="13019115" cy="59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8"/>
              </a:lnSpc>
            </a:pPr>
            <a:r>
              <a:rPr lang="es-AR" sz="4068" b="1" spc="1310" dirty="0" smtClean="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CLASE USUARIO</a:t>
            </a:r>
            <a:endParaRPr lang="en-US" sz="4068" b="1" spc="1310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10800" y="6670492"/>
            <a:ext cx="6772058" cy="278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s-MX" sz="2800" dirty="0"/>
              <a:t>Funciones que permiten recibir un mensaje y guardarlo en la bandeja de entrada, y listar todos los mensajes almacenados. Son esenciales para gestionar la comunicación del usuario dentro del sistema.</a:t>
            </a:r>
            <a:endParaRPr lang="en-US" sz="2707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9282093" y="2513259"/>
            <a:ext cx="81915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400" dirty="0">
                <a:latin typeface="Garet" panose="020B0604020202020204" charset="0"/>
              </a:rPr>
              <a:t>Función que permite agregar filtros por palabra clave y clasificar automáticamente los mensajes según su contenido. También detecta si un mensaje es urgente y lo organiza en la bandeja correspondiente.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et" panose="020B0604020202020204" charset="0"/>
            </a:endParaRP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16085"/>
            <a:ext cx="6467257" cy="3967700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182767"/>
            <a:ext cx="8522443" cy="147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8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113204" y="1347740"/>
            <a:ext cx="13019115" cy="59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8"/>
              </a:lnSpc>
            </a:pPr>
            <a:r>
              <a:rPr lang="es-AR" sz="4068" b="1" spc="1310" dirty="0" smtClean="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CLASE USUARIO</a:t>
            </a:r>
            <a:endParaRPr lang="en-US" sz="4068" b="1" spc="1310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4270296"/>
            <a:ext cx="7594061" cy="278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s-MX" sz="2800" dirty="0">
                <a:latin typeface="Garet" panose="020B0604020202020204" charset="0"/>
              </a:rPr>
              <a:t>Funciones que permiten visualizar los mensajes urgentes y los mensajes clasificados por filtros, mostrando su contenido según la categoría. Facilitan la organización y revisión rápida del correo.</a:t>
            </a:r>
            <a:endParaRPr lang="en-US" sz="2707" dirty="0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3009900"/>
            <a:ext cx="7782337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245615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186" cy="4596335"/>
              </a:xfrm>
              <a:custGeom>
                <a:avLst/>
                <a:gdLst/>
                <a:ahLst/>
                <a:cxnLst/>
                <a:rect l="l" t="t" r="r" b="b"/>
                <a:pathLst>
                  <a:path w="334186" h="4596335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5724" cy="4476587"/>
              </a:xfrm>
              <a:custGeom>
                <a:avLst/>
                <a:gdLst/>
                <a:ahLst/>
                <a:cxnLst/>
                <a:rect l="l" t="t" r="r" b="b"/>
                <a:pathLst>
                  <a:path w="335724" h="4476587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38843" cy="4330374"/>
              </a:xfrm>
              <a:custGeom>
                <a:avLst/>
                <a:gdLst/>
                <a:ahLst/>
                <a:cxnLst/>
                <a:rect l="l" t="t" r="r" b="b"/>
                <a:pathLst>
                  <a:path w="338843" h="4330374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2113204" y="1347740"/>
            <a:ext cx="13019115" cy="59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8"/>
              </a:lnSpc>
            </a:pPr>
            <a:r>
              <a:rPr lang="es-AR" sz="4068" b="1" spc="1310" dirty="0" smtClean="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CLASE CARPETA</a:t>
            </a:r>
            <a:endParaRPr lang="en-US" sz="4068" b="1" spc="1310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66801" y="6287329"/>
            <a:ext cx="7620000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s-MX" sz="2800" dirty="0"/>
              <a:t>Funciones que permiten agregar subcarpetas y mensajes a una carpeta, y recibir mensajes para almacenarlos. Ayudan a construir una estructura jerárquica y organizada dentro del sistema de correo.</a:t>
            </a:r>
            <a:endParaRPr lang="en-US" sz="2707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1469702" y="2696396"/>
            <a:ext cx="759809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800" dirty="0"/>
              <a:t>Clase que representa una carpeta con nombre, mensajes y subcarpetas. Permite organizar el correo en una estructura jerárquica dentro del sistema.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et" panose="020B060402020202020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2705099"/>
            <a:ext cx="5867400" cy="2613503"/>
          </a:xfrm>
          <a:prstGeom prst="rect">
            <a:avLst/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363" y="6395108"/>
            <a:ext cx="8115925" cy="25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8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1944" y="266700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186" cy="4596335"/>
              </a:xfrm>
              <a:custGeom>
                <a:avLst/>
                <a:gdLst/>
                <a:ahLst/>
                <a:cxnLst/>
                <a:rect l="l" t="t" r="r" b="b"/>
                <a:pathLst>
                  <a:path w="334186" h="4596335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5724" cy="4476587"/>
              </a:xfrm>
              <a:custGeom>
                <a:avLst/>
                <a:gdLst/>
                <a:ahLst/>
                <a:cxnLst/>
                <a:rect l="l" t="t" r="r" b="b"/>
                <a:pathLst>
                  <a:path w="335724" h="4476587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38843" cy="4330374"/>
              </a:xfrm>
              <a:custGeom>
                <a:avLst/>
                <a:gdLst/>
                <a:ahLst/>
                <a:cxnLst/>
                <a:rect l="l" t="t" r="r" b="b"/>
                <a:pathLst>
                  <a:path w="338843" h="4330374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2113204" y="1347740"/>
            <a:ext cx="13019115" cy="59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38"/>
              </a:lnSpc>
            </a:pPr>
            <a:r>
              <a:rPr lang="es-AR" sz="4068" b="1" spc="1310" dirty="0" smtClean="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CLASE CARPETA</a:t>
            </a:r>
            <a:endParaRPr lang="en-US" sz="4068" b="1" spc="1310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66801" y="6287329"/>
            <a:ext cx="7620000" cy="27879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s-MX" sz="2800" dirty="0"/>
              <a:t>Funciones que permiten mostrar la estructura completa de carpetas y subcarpetas usando recursividad, y mover mensajes entre carpetas. Facilitan la organización visual y dinámica del sistema de correo.</a:t>
            </a:r>
            <a:endParaRPr lang="en-US" sz="2707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9525000" y="2805611"/>
            <a:ext cx="759809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800" dirty="0"/>
              <a:t>Funciones que permiten enviar un mensaje a su carpeta destino y listar todos los mensajes almacenados en la carpeta actual. Facilitan la comunicación y organización dentro del sistema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et" panose="020B0604020202020204" charset="0"/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3" y="2800555"/>
            <a:ext cx="7623358" cy="1835636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078" y="6373810"/>
            <a:ext cx="7501322" cy="295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70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113204" y="1347740"/>
            <a:ext cx="13019115" cy="59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8"/>
              </a:lnSpc>
            </a:pPr>
            <a:r>
              <a:rPr lang="es-AR" sz="4068" b="1" spc="1310" dirty="0" smtClean="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CLASE CARPETA</a:t>
            </a:r>
            <a:endParaRPr lang="en-US" sz="4068" b="1" spc="1310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19200" y="4305300"/>
            <a:ext cx="7594061" cy="222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s-MX" sz="2800" dirty="0"/>
              <a:t>Función que busca mensajes que coincidan con un criterio en su contenido o remitente, recorriendo también las subcarpetas de forma recursiva. Permite localizar información específica dentro del sistema.</a:t>
            </a:r>
            <a:endParaRPr lang="en-US" sz="2707" dirty="0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425" y="3848100"/>
            <a:ext cx="8229133" cy="343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80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186" cy="4596335"/>
              </a:xfrm>
              <a:custGeom>
                <a:avLst/>
                <a:gdLst/>
                <a:ahLst/>
                <a:cxnLst/>
                <a:rect l="l" t="t" r="r" b="b"/>
                <a:pathLst>
                  <a:path w="334186" h="4596335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5724" cy="4476587"/>
              </a:xfrm>
              <a:custGeom>
                <a:avLst/>
                <a:gdLst/>
                <a:ahLst/>
                <a:cxnLst/>
                <a:rect l="l" t="t" r="r" b="b"/>
                <a:pathLst>
                  <a:path w="335724" h="4476587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38843" cy="4330374"/>
              </a:xfrm>
              <a:custGeom>
                <a:avLst/>
                <a:gdLst/>
                <a:ahLst/>
                <a:cxnLst/>
                <a:rect l="l" t="t" r="r" b="b"/>
                <a:pathLst>
                  <a:path w="338843" h="4330374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2113204" y="1347740"/>
            <a:ext cx="14574596" cy="592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38"/>
              </a:lnSpc>
            </a:pPr>
            <a:r>
              <a:rPr lang="es-AR" sz="4068" b="1" spc="1310" dirty="0" smtClean="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CLASE SERVIDORCORREO</a:t>
            </a:r>
            <a:endParaRPr lang="en-US" sz="4068" b="1" spc="1310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23" name="TextBox 15"/>
          <p:cNvSpPr txBox="1"/>
          <p:nvPr/>
        </p:nvSpPr>
        <p:spPr>
          <a:xfrm>
            <a:off x="5254281" y="2849657"/>
            <a:ext cx="7594061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s-AR" sz="2707" dirty="0" smtClean="0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Luego de la explicación de grafos y modificar el código se agrega la parte de servidor correo</a:t>
            </a:r>
            <a:endParaRPr lang="en-US" sz="2707" dirty="0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698648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186" cy="4596335"/>
              </a:xfrm>
              <a:custGeom>
                <a:avLst/>
                <a:gdLst/>
                <a:ahLst/>
                <a:cxnLst/>
                <a:rect l="l" t="t" r="r" b="b"/>
                <a:pathLst>
                  <a:path w="334186" h="4596335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5724" cy="4476587"/>
              </a:xfrm>
              <a:custGeom>
                <a:avLst/>
                <a:gdLst/>
                <a:ahLst/>
                <a:cxnLst/>
                <a:rect l="l" t="t" r="r" b="b"/>
                <a:pathLst>
                  <a:path w="335724" h="4476587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38843" cy="4330374"/>
              </a:xfrm>
              <a:custGeom>
                <a:avLst/>
                <a:gdLst/>
                <a:ahLst/>
                <a:cxnLst/>
                <a:rect l="l" t="t" r="r" b="b"/>
                <a:pathLst>
                  <a:path w="338843" h="4330374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2113204" y="1347740"/>
            <a:ext cx="14574596" cy="592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38"/>
              </a:lnSpc>
            </a:pPr>
            <a:r>
              <a:rPr lang="es-AR" sz="4068" b="1" spc="1310" dirty="0" smtClean="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CLASE MENSAJE</a:t>
            </a:r>
            <a:endParaRPr lang="en-US" sz="4068" b="1" spc="1310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23" name="TextBox 15"/>
          <p:cNvSpPr txBox="1"/>
          <p:nvPr/>
        </p:nvSpPr>
        <p:spPr>
          <a:xfrm>
            <a:off x="5254281" y="2849657"/>
            <a:ext cx="7594061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s-AR" sz="2707" dirty="0" smtClean="0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Luego de las modificaciones se agregara la clase mensaje.</a:t>
            </a:r>
            <a:endParaRPr lang="en-US" sz="2707" dirty="0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1594992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186" cy="4596335"/>
              </a:xfrm>
              <a:custGeom>
                <a:avLst/>
                <a:gdLst/>
                <a:ahLst/>
                <a:cxnLst/>
                <a:rect l="l" t="t" r="r" b="b"/>
                <a:pathLst>
                  <a:path w="334186" h="4596335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5724" cy="4476587"/>
              </a:xfrm>
              <a:custGeom>
                <a:avLst/>
                <a:gdLst/>
                <a:ahLst/>
                <a:cxnLst/>
                <a:rect l="l" t="t" r="r" b="b"/>
                <a:pathLst>
                  <a:path w="335724" h="4476587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38843" cy="4330374"/>
              </a:xfrm>
              <a:custGeom>
                <a:avLst/>
                <a:gdLst/>
                <a:ahLst/>
                <a:cxnLst/>
                <a:rect l="l" t="t" r="r" b="b"/>
                <a:pathLst>
                  <a:path w="338843" h="4330374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2113204" y="1347740"/>
            <a:ext cx="13019115" cy="59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8"/>
              </a:lnSpc>
            </a:pPr>
            <a:r>
              <a:rPr lang="en-US" sz="4068" b="1" spc="131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DEMO O CAPTURAS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186" cy="4596335"/>
              </a:xfrm>
              <a:custGeom>
                <a:avLst/>
                <a:gdLst/>
                <a:ahLst/>
                <a:cxnLst/>
                <a:rect l="l" t="t" r="r" b="b"/>
                <a:pathLst>
                  <a:path w="334186" h="4596335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5724" cy="4476587"/>
              </a:xfrm>
              <a:custGeom>
                <a:avLst/>
                <a:gdLst/>
                <a:ahLst/>
                <a:cxnLst/>
                <a:rect l="l" t="t" r="r" b="b"/>
                <a:pathLst>
                  <a:path w="335724" h="4476587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38843" cy="4330374"/>
              </a:xfrm>
              <a:custGeom>
                <a:avLst/>
                <a:gdLst/>
                <a:ahLst/>
                <a:cxnLst/>
                <a:rect l="l" t="t" r="r" b="b"/>
                <a:pathLst>
                  <a:path w="338843" h="4330374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2113204" y="1347740"/>
            <a:ext cx="13019115" cy="2840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8"/>
              </a:lnSpc>
            </a:pPr>
            <a:r>
              <a:rPr lang="en-US" sz="4068" b="1" spc="1310" dirty="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DIFICULTADES</a:t>
            </a:r>
          </a:p>
          <a:p>
            <a:pPr algn="l">
              <a:lnSpc>
                <a:spcPts val="4524"/>
              </a:lnSpc>
            </a:pPr>
            <a:endParaRPr lang="en-US" sz="4068" b="1" spc="1310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  <a:p>
            <a:pPr algn="l">
              <a:lnSpc>
                <a:spcPts val="4638"/>
              </a:lnSpc>
            </a:pPr>
            <a:endParaRPr lang="en-US" sz="1668" b="1" spc="537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  <a:p>
            <a:pPr algn="l">
              <a:lnSpc>
                <a:spcPts val="4638"/>
              </a:lnSpc>
            </a:pPr>
            <a:endParaRPr lang="en-US" sz="1668" b="1" spc="537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  <a:p>
            <a:pPr algn="l">
              <a:lnSpc>
                <a:spcPts val="4638"/>
              </a:lnSpc>
            </a:pPr>
            <a:endParaRPr lang="en-US" sz="1668" b="1" spc="537" dirty="0">
              <a:solidFill>
                <a:srgbClr val="27403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1328095"/>
            <a:ext cx="13019115" cy="115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9"/>
              </a:lnSpc>
            </a:pPr>
            <a:r>
              <a:rPr lang="en-US" sz="7868" b="1" spc="2533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567</Words>
  <Application>Microsoft Office PowerPoint</Application>
  <PresentationFormat>Personalizado</PresentationFormat>
  <Paragraphs>47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Garet</vt:lpstr>
      <vt:lpstr>Calibri</vt:lpstr>
      <vt:lpstr>Raleway Heavy</vt:lpstr>
      <vt:lpstr>Raleway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TPI</dc:title>
  <cp:lastModifiedBy>FRANCO RUIZ</cp:lastModifiedBy>
  <cp:revision>6</cp:revision>
  <dcterms:created xsi:type="dcterms:W3CDTF">2006-08-16T00:00:00Z</dcterms:created>
  <dcterms:modified xsi:type="dcterms:W3CDTF">2025-10-28T11:10:11Z</dcterms:modified>
  <dc:identifier>DAGp5-EPgjY</dc:identifier>
</cp:coreProperties>
</file>